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5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6.jpe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6.jpe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6.jpe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6.jpeg"/><Relationship Id="rId7" Type="http://schemas.openxmlformats.org/officeDocument/2006/relationships/image" Target="../media/image2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10" Type="http://schemas.openxmlformats.org/officeDocument/2006/relationships/image" Target="../media/image34.jpg"/><Relationship Id="rId4" Type="http://schemas.openxmlformats.org/officeDocument/2006/relationships/image" Target="../media/image7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3" Type="http://schemas.openxmlformats.org/officeDocument/2006/relationships/image" Target="../media/image6.jpeg"/><Relationship Id="rId7" Type="http://schemas.openxmlformats.org/officeDocument/2006/relationships/image" Target="../media/image3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7016" y="2329140"/>
            <a:ext cx="2546097" cy="982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Họ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và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tên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: Nguyễn Thúy Kiều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</a:rPr>
              <a:t>Mã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</a:rPr>
              <a:t> </a:t>
            </a: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</a:rPr>
              <a:t>số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</a:rPr>
              <a:t> </a:t>
            </a: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</a:rPr>
              <a:t>sinh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</a:rPr>
              <a:t> </a:t>
            </a: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</a:rPr>
              <a:t>viên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</a:rPr>
              <a:t>: 1150080144</a:t>
            </a:r>
          </a:p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 err="1">
                <a:solidFill>
                  <a:srgbClr val="000000"/>
                </a:solidFill>
                <a:latin typeface="Tie"/>
                <a:ea typeface="Noto Sans" pitchFamily="34" charset="-122"/>
              </a:rPr>
              <a:t>Lớp</a:t>
            </a:r>
            <a:r>
              <a:rPr lang="en-US" sz="1296" b="1" dirty="0">
                <a:solidFill>
                  <a:srgbClr val="000000"/>
                </a:solidFill>
                <a:latin typeface="Tie"/>
                <a:ea typeface="Noto Sans" pitchFamily="34" charset="-122"/>
              </a:rPr>
              <a:t>: 11-DHCNPM2</a:t>
            </a:r>
            <a:endParaRPr lang="en-US" sz="1440" b="1" dirty="0">
              <a:latin typeface="Tie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432664" y="1401890"/>
            <a:ext cx="827867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Dự báo Thời tiết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83946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4454DF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Nội dung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66574" y="163019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Ứng dụng dự báo thời tiết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Thiết kế và phát triển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33519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Kết quả và triển khai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918" y="2216327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Ứng dụng dự báo thời tiết</a:t>
            </a:r>
            <a:endParaRPr lang="en-US" sz="1440" dirty="0">
              <a:latin typeface="Tie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Giới thiệu tổng quan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142" y="1095306"/>
            <a:ext cx="8311715" cy="3574735"/>
          </a:xfrm>
          <a:custGeom>
            <a:avLst/>
            <a:gdLst/>
            <a:ahLst/>
            <a:cxnLst/>
            <a:rect l="l" t="t" r="r" b="b"/>
            <a:pathLst>
              <a:path w="8311715" h="3574735">
                <a:moveTo>
                  <a:pt x="255784" y="0"/>
                </a:moveTo>
                <a:moveTo>
                  <a:pt x="255784" y="0"/>
                </a:moveTo>
                <a:lnTo>
                  <a:pt x="8055931" y="0"/>
                </a:lnTo>
                <a:quadBezTo>
                  <a:pt x="8311715" y="0"/>
                  <a:pt x="8311715" y="255784"/>
                </a:quadBezTo>
                <a:lnTo>
                  <a:pt x="8311715" y="3318951"/>
                </a:lnTo>
                <a:quadBezTo>
                  <a:pt x="8311715" y="3574735"/>
                  <a:pt x="8055931" y="3574735"/>
                </a:quadBezTo>
                <a:lnTo>
                  <a:pt x="255784" y="3574735"/>
                </a:lnTo>
                <a:quadBezTo>
                  <a:pt x="0" y="3574735"/>
                  <a:pt x="0" y="3318951"/>
                </a:quadBezTo>
                <a:lnTo>
                  <a:pt x="0" y="255784"/>
                </a:lnTo>
                <a:quadBezTo>
                  <a:pt x="0" y="0"/>
                  <a:pt x="25578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" dist="38100" dir="2700000" algn="bl" rotWithShape="0">
              <a:srgbClr val="808080">
                <a:alpha val="14902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51435" y="1950136"/>
            <a:ext cx="2295442" cy="626033"/>
          </a:xfrm>
          <a:custGeom>
            <a:avLst/>
            <a:gdLst/>
            <a:ahLst/>
            <a:cxnLst/>
            <a:rect l="l" t="t" r="r" b="b"/>
            <a:pathLst>
              <a:path w="2295442" h="626033">
                <a:moveTo>
                  <a:pt x="267010" y="0"/>
                </a:moveTo>
                <a:moveTo>
                  <a:pt x="267010" y="0"/>
                </a:moveTo>
                <a:lnTo>
                  <a:pt x="2028431" y="0"/>
                </a:lnTo>
                <a:quadBezTo>
                  <a:pt x="2295442" y="0"/>
                  <a:pt x="2295442" y="313016"/>
                </a:quadBezTo>
                <a:lnTo>
                  <a:pt x="2295442" y="313016"/>
                </a:lnTo>
                <a:quadBezTo>
                  <a:pt x="2295442" y="626033"/>
                  <a:pt x="2028431" y="626033"/>
                </a:quadBezTo>
                <a:lnTo>
                  <a:pt x="267010" y="626033"/>
                </a:lnTo>
                <a:quadBezTo>
                  <a:pt x="0" y="626033"/>
                  <a:pt x="0" y="313016"/>
                </a:quadBezTo>
                <a:lnTo>
                  <a:pt x="0" y="313016"/>
                </a:lnTo>
                <a:quadBezTo>
                  <a:pt x="0" y="0"/>
                  <a:pt x="267010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Shape 4"/>
          <p:cNvSpPr/>
          <p:nvPr/>
        </p:nvSpPr>
        <p:spPr>
          <a:xfrm>
            <a:off x="849760" y="2803925"/>
            <a:ext cx="2098790" cy="0"/>
          </a:xfrm>
          <a:custGeom>
            <a:avLst/>
            <a:gdLst/>
            <a:ahLst/>
            <a:cxnLst/>
            <a:rect l="l" t="t" r="r" b="b"/>
            <a:pathLst>
              <a:path w="2098790">
                <a:moveTo>
                  <a:pt x="0" y="0"/>
                </a:moveTo>
                <a:moveTo>
                  <a:pt x="0" y="0"/>
                </a:moveTo>
                <a:lnTo>
                  <a:pt x="2098790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48" y="1464158"/>
            <a:ext cx="2085615" cy="48597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32553" y="1950136"/>
            <a:ext cx="2295442" cy="626033"/>
          </a:xfrm>
          <a:custGeom>
            <a:avLst/>
            <a:gdLst/>
            <a:ahLst/>
            <a:cxnLst/>
            <a:rect l="l" t="t" r="r" b="b"/>
            <a:pathLst>
              <a:path w="2295442" h="626033">
                <a:moveTo>
                  <a:pt x="267010" y="0"/>
                </a:moveTo>
                <a:moveTo>
                  <a:pt x="267010" y="0"/>
                </a:moveTo>
                <a:lnTo>
                  <a:pt x="2028431" y="0"/>
                </a:lnTo>
                <a:quadBezTo>
                  <a:pt x="2295442" y="0"/>
                  <a:pt x="2295442" y="313016"/>
                </a:quadBezTo>
                <a:lnTo>
                  <a:pt x="2295442" y="313016"/>
                </a:lnTo>
                <a:quadBezTo>
                  <a:pt x="2295442" y="626033"/>
                  <a:pt x="2028431" y="626033"/>
                </a:quadBezTo>
                <a:lnTo>
                  <a:pt x="267010" y="626033"/>
                </a:lnTo>
                <a:quadBezTo>
                  <a:pt x="0" y="626033"/>
                  <a:pt x="0" y="313016"/>
                </a:quadBezTo>
                <a:lnTo>
                  <a:pt x="0" y="313016"/>
                </a:lnTo>
                <a:quadBezTo>
                  <a:pt x="0" y="0"/>
                  <a:pt x="267010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Shape 6"/>
          <p:cNvSpPr/>
          <p:nvPr/>
        </p:nvSpPr>
        <p:spPr>
          <a:xfrm>
            <a:off x="3530879" y="2803925"/>
            <a:ext cx="2098790" cy="0"/>
          </a:xfrm>
          <a:custGeom>
            <a:avLst/>
            <a:gdLst/>
            <a:ahLst/>
            <a:cxnLst/>
            <a:rect l="l" t="t" r="r" b="b"/>
            <a:pathLst>
              <a:path w="2098790">
                <a:moveTo>
                  <a:pt x="0" y="0"/>
                </a:moveTo>
                <a:moveTo>
                  <a:pt x="0" y="0"/>
                </a:moveTo>
                <a:lnTo>
                  <a:pt x="2098790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7466" y="1464158"/>
            <a:ext cx="2085615" cy="48597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097124" y="1950136"/>
            <a:ext cx="2295442" cy="626033"/>
          </a:xfrm>
          <a:custGeom>
            <a:avLst/>
            <a:gdLst/>
            <a:ahLst/>
            <a:cxnLst/>
            <a:rect l="l" t="t" r="r" b="b"/>
            <a:pathLst>
              <a:path w="2295442" h="626033">
                <a:moveTo>
                  <a:pt x="267010" y="0"/>
                </a:moveTo>
                <a:moveTo>
                  <a:pt x="267010" y="0"/>
                </a:moveTo>
                <a:lnTo>
                  <a:pt x="2028431" y="0"/>
                </a:lnTo>
                <a:quadBezTo>
                  <a:pt x="2295442" y="0"/>
                  <a:pt x="2295442" y="313016"/>
                </a:quadBezTo>
                <a:lnTo>
                  <a:pt x="2295442" y="313016"/>
                </a:lnTo>
                <a:quadBezTo>
                  <a:pt x="2295442" y="626033"/>
                  <a:pt x="2028431" y="626033"/>
                </a:quadBezTo>
                <a:lnTo>
                  <a:pt x="267010" y="626033"/>
                </a:lnTo>
                <a:quadBezTo>
                  <a:pt x="0" y="626033"/>
                  <a:pt x="0" y="313016"/>
                </a:quadBezTo>
                <a:lnTo>
                  <a:pt x="0" y="313016"/>
                </a:lnTo>
                <a:quadBezTo>
                  <a:pt x="0" y="0"/>
                  <a:pt x="267010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Shape 8"/>
          <p:cNvSpPr/>
          <p:nvPr/>
        </p:nvSpPr>
        <p:spPr>
          <a:xfrm>
            <a:off x="6195449" y="2803925"/>
            <a:ext cx="2098790" cy="0"/>
          </a:xfrm>
          <a:custGeom>
            <a:avLst/>
            <a:gdLst/>
            <a:ahLst/>
            <a:cxnLst/>
            <a:rect l="l" t="t" r="r" b="b"/>
            <a:pathLst>
              <a:path w="2098790">
                <a:moveTo>
                  <a:pt x="0" y="0"/>
                </a:moveTo>
                <a:moveTo>
                  <a:pt x="0" y="0"/>
                </a:moveTo>
                <a:lnTo>
                  <a:pt x="2098790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037" y="1464158"/>
            <a:ext cx="2085615" cy="4859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5609" y="1095306"/>
            <a:ext cx="2207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476727" y="1095306"/>
            <a:ext cx="2207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6141298" y="1095306"/>
            <a:ext cx="2207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348" y="1552506"/>
            <a:ext cx="7431305" cy="41965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1435" y="2075701"/>
            <a:ext cx="229544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Tổng quan về ứng dụng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728282" y="2875476"/>
            <a:ext cx="2341747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dự báo thời tiết cung cấp thông tin chính xác về điều kiện khí hậu, giúp người dùng lên kế hoạch hoạt động hàng ngày hiệu quả.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3432553" y="2075701"/>
            <a:ext cx="229544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3409401" y="2875476"/>
            <a:ext cx="234174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Hệ thống tích hợp API thời tiết, công nghệ dự đoán, và giao diện thân thiện để mang đến trải nghiệm người dùng tối ưu.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097124" y="2075701"/>
            <a:ext cx="2295442" cy="374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Tính năng chính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073971" y="2875476"/>
            <a:ext cx="234174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Dự báo ngắn hạn, dài hạn, cảnh báo thời tiết khắc nghiệt, và thông tin chi tiết về nhiệt độ, độ ẩm, tốc độ gió.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Tính năng chính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5169741505_P9fhIB.jpg"/>
          <p:cNvPicPr>
            <a:picLocks noChangeAspect="1"/>
          </p:cNvPicPr>
          <p:nvPr/>
        </p:nvPicPr>
        <p:blipFill>
          <a:blip r:embed="rId6"/>
          <a:srcRect t="9839" b="9839"/>
          <a:stretch/>
        </p:blipFill>
        <p:spPr>
          <a:xfrm>
            <a:off x="270229" y="1083996"/>
            <a:ext cx="1994265" cy="159541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5169744805_rjGqPY.jpg"/>
          <p:cNvPicPr>
            <a:picLocks noChangeAspect="1"/>
          </p:cNvPicPr>
          <p:nvPr/>
        </p:nvPicPr>
        <p:blipFill>
          <a:blip r:embed="rId7"/>
          <a:srcRect t="9839" b="9839"/>
          <a:stretch/>
        </p:blipFill>
        <p:spPr>
          <a:xfrm>
            <a:off x="2473278" y="1083996"/>
            <a:ext cx="1994265" cy="159541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5169748343_NYHNGd.jpg"/>
          <p:cNvPicPr>
            <a:picLocks noChangeAspect="1"/>
          </p:cNvPicPr>
          <p:nvPr/>
        </p:nvPicPr>
        <p:blipFill>
          <a:blip r:embed="rId8"/>
          <a:srcRect t="9839" b="9839"/>
          <a:stretch/>
        </p:blipFill>
        <p:spPr>
          <a:xfrm>
            <a:off x="4676328" y="1083996"/>
            <a:ext cx="1994265" cy="1595412"/>
          </a:xfrm>
          <a:prstGeom prst="rect">
            <a:avLst/>
          </a:prstGeom>
        </p:spPr>
      </p:pic>
      <p:pic>
        <p:nvPicPr>
          <p:cNvPr id="9" name="Image 5" descr="https://oceandoc-ai.obs.ap-southeast-3.myhuaweicloud.com:443/image_1765169751505_g59Egx.jpg"/>
          <p:cNvPicPr>
            <a:picLocks noChangeAspect="1"/>
          </p:cNvPicPr>
          <p:nvPr/>
        </p:nvPicPr>
        <p:blipFill>
          <a:blip r:embed="rId9"/>
          <a:srcRect t="9839" b="9839"/>
          <a:stretch/>
        </p:blipFill>
        <p:spPr>
          <a:xfrm>
            <a:off x="6879378" y="1083996"/>
            <a:ext cx="1994265" cy="159541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05667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Text 3"/>
          <p:cNvSpPr/>
          <p:nvPr/>
        </p:nvSpPr>
        <p:spPr>
          <a:xfrm>
            <a:off x="1022776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325972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3" name="Shape 5"/>
          <p:cNvSpPr/>
          <p:nvPr/>
        </p:nvSpPr>
        <p:spPr>
          <a:xfrm>
            <a:off x="546277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Text 6"/>
          <p:cNvSpPr/>
          <p:nvPr/>
        </p:nvSpPr>
        <p:spPr>
          <a:xfrm>
            <a:off x="5428875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5" name="Shape 7"/>
          <p:cNvSpPr/>
          <p:nvPr/>
        </p:nvSpPr>
        <p:spPr>
          <a:xfrm>
            <a:off x="7665824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6" name="Text 8"/>
          <p:cNvSpPr/>
          <p:nvPr/>
        </p:nvSpPr>
        <p:spPr>
          <a:xfrm>
            <a:off x="3225826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7631925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0229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Hiển thị thông tin thời tiết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0229" y="3471122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hiển thị nhiệt độ, độ ẩm, tốc độ gió và các thông số thời tiết hiện tại cùng biểu tượng trực quan.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47327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Dự báo nhiều ngày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473278" y="3471122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Cung cấp dự báo chi tiết cho 7-10 ngày tới, giúp người dùng lên kế hoạch hoạt động dài hạn.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67632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Cảnh báo thời tiết khắc nghiệt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676328" y="3471122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Thông báo kịp thời về bão, lũ lụt, nắng nóng và các hiện tượng thời tiết cực đoan.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87937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Bản đồ thời tiết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79378" y="3471122"/>
            <a:ext cx="199439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Hiển thị bản đồ nhiệt, mây, lượng mưa và các yếu tố thời tiết theo vùng địa lý.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sử dụng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9603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49317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2453002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442716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4646400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049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36114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6839799" y="1093358"/>
            <a:ext cx="2044598" cy="3664012"/>
          </a:xfrm>
          <a:custGeom>
            <a:avLst/>
            <a:gdLst/>
            <a:ahLst/>
            <a:cxnLst/>
            <a:rect l="l" t="t" r="r" b="b"/>
            <a:pathLst>
              <a:path w="2044598" h="3664012">
                <a:moveTo>
                  <a:pt x="0" y="0"/>
                </a:moveTo>
                <a:moveTo>
                  <a:pt x="0" y="0"/>
                </a:moveTo>
                <a:lnTo>
                  <a:pt x="2044598" y="0"/>
                </a:lnTo>
                <a:quadBezTo>
                  <a:pt x="2044598" y="0"/>
                  <a:pt x="2044598" y="0"/>
                </a:quadBezTo>
                <a:lnTo>
                  <a:pt x="2044598" y="3664012"/>
                </a:lnTo>
                <a:quadBezTo>
                  <a:pt x="2044598" y="3664012"/>
                  <a:pt x="2044598" y="3664012"/>
                </a:quadBezTo>
                <a:lnTo>
                  <a:pt x="0" y="3664012"/>
                </a:lnTo>
                <a:quadBezTo>
                  <a:pt x="0" y="3664012"/>
                  <a:pt x="0" y="366401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5049D5">
              <a:alpha val="0"/>
            </a:srgbClr>
          </a:solidFill>
          <a:ln w="28575">
            <a:solidFill>
              <a:srgbClr val="5196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29513" y="4714519"/>
            <a:ext cx="2065170" cy="0"/>
          </a:xfrm>
          <a:custGeom>
            <a:avLst/>
            <a:gdLst/>
            <a:ahLst/>
            <a:cxnLst/>
            <a:rect l="l" t="t" r="r" b="b"/>
            <a:pathLst>
              <a:path w="2065170">
                <a:moveTo>
                  <a:pt x="0" y="0"/>
                </a:moveTo>
                <a:moveTo>
                  <a:pt x="0" y="0"/>
                </a:moveTo>
                <a:lnTo>
                  <a:pt x="2065170" y="0"/>
                </a:lnTo>
              </a:path>
            </a:pathLst>
          </a:custGeom>
          <a:noFill/>
          <a:ln w="95250">
            <a:solidFill>
              <a:srgbClr val="5196FF"/>
            </a:solidFill>
            <a:prstDash val="solid"/>
            <a:headEnd type="none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257473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Back-end</a:t>
            </a:r>
            <a:endParaRPr lang="en-US" sz="1440" dirty="0"/>
          </a:p>
        </p:txBody>
      </p:sp>
      <p:pic>
        <p:nvPicPr>
          <p:cNvPr id="15" name="Image 2" descr="https://oceandoc-ai.obs.ap-southeast-3.myhuaweicloud.com:443/image_1765169741811_HoXlfF.jpg"/>
          <p:cNvPicPr>
            <a:picLocks noChangeAspect="1"/>
          </p:cNvPicPr>
          <p:nvPr/>
        </p:nvPicPr>
        <p:blipFill>
          <a:blip r:embed="rId6"/>
          <a:srcRect t="10000" b="10000"/>
          <a:stretch/>
        </p:blipFill>
        <p:spPr>
          <a:xfrm>
            <a:off x="268747" y="1093358"/>
            <a:ext cx="2026310" cy="1621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7473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Node.js và Express.js làm nền tảng phát triển server, kết hợp MongoDB để lưu trữ dữ liệu thời tiết và thông tin người dùng.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2450872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Front-end</a:t>
            </a:r>
            <a:endParaRPr lang="en-US" sz="1440" dirty="0"/>
          </a:p>
        </p:txBody>
      </p:sp>
      <p:pic>
        <p:nvPicPr>
          <p:cNvPr id="18" name="Image 3" descr="https://oceandoc-ai.obs.ap-southeast-3.myhuaweicloud.com:443/image_1765169745562_1ei67z.jpg"/>
          <p:cNvPicPr>
            <a:picLocks noChangeAspect="1"/>
          </p:cNvPicPr>
          <p:nvPr/>
        </p:nvPicPr>
        <p:blipFill>
          <a:blip r:embed="rId7"/>
          <a:srcRect t="10000" b="10000"/>
          <a:stretch/>
        </p:blipFill>
        <p:spPr>
          <a:xfrm>
            <a:off x="2462146" y="1093358"/>
            <a:ext cx="2026310" cy="1621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450872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triển giao diện bằng React Native cho ứng dụng di động đa nền tảng, hỗ trợ hiển thị trực quan dữ liệu thời tiết.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4644271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Thời tiết</a:t>
            </a:r>
            <a:endParaRPr lang="en-US" sz="1440" dirty="0"/>
          </a:p>
        </p:txBody>
      </p:sp>
      <p:pic>
        <p:nvPicPr>
          <p:cNvPr id="21" name="Image 4" descr="https://oceandoc-ai.obs.ap-southeast-3.myhuaweicloud.com:443/image_1765169748972_PzdQ9C.jpg"/>
          <p:cNvPicPr>
            <a:picLocks noChangeAspect="1"/>
          </p:cNvPicPr>
          <p:nvPr/>
        </p:nvPicPr>
        <p:blipFill>
          <a:blip r:embed="rId8"/>
          <a:srcRect t="10000" b="10000"/>
          <a:stretch/>
        </p:blipFill>
        <p:spPr>
          <a:xfrm>
            <a:off x="4655544" y="1093358"/>
            <a:ext cx="2026310" cy="1621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44271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Tích hợp OpenWeatherMap API và AccuWeather API để thu thập dữ liệu thời tiết chính xác từ nhiều nguồn khác nhau.</a:t>
            </a:r>
            <a:endParaRPr lang="en-US" sz="1440" dirty="0"/>
          </a:p>
        </p:txBody>
      </p:sp>
      <p:sp>
        <p:nvSpPr>
          <p:cNvPr id="23" name="Text 16"/>
          <p:cNvSpPr/>
          <p:nvPr/>
        </p:nvSpPr>
        <p:spPr>
          <a:xfrm>
            <a:off x="6837669" y="2906821"/>
            <a:ext cx="2048858" cy="40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Dự báo</a:t>
            </a:r>
            <a:endParaRPr lang="en-US" sz="1440" dirty="0"/>
          </a:p>
        </p:txBody>
      </p:sp>
      <p:pic>
        <p:nvPicPr>
          <p:cNvPr id="24" name="Image 5" descr="https://oceandoc-ai.obs.ap-southeast-3.myhuaweicloud.com:443/image_1765169752578_3Jzpcz.jpg"/>
          <p:cNvPicPr>
            <a:picLocks noChangeAspect="1"/>
          </p:cNvPicPr>
          <p:nvPr/>
        </p:nvPicPr>
        <p:blipFill>
          <a:blip r:embed="rId9"/>
          <a:srcRect t="10000" b="10000"/>
          <a:stretch/>
        </p:blipFill>
        <p:spPr>
          <a:xfrm>
            <a:off x="6848943" y="1093358"/>
            <a:ext cx="2026310" cy="1621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37669" y="3314725"/>
            <a:ext cx="2048858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Áp dụng mô hình học máy với TensorFlow để phân tích dữ liệu lịch sử và dự báo xu hướng thời tiết ngắn hạn.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Thiết kế và phát triển</a:t>
            </a:r>
            <a:endParaRPr lang="en-US" sz="1440" dirty="0">
              <a:latin typeface="Tie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2360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Tie"/>
                <a:ea typeface="Noto Sans" pitchFamily="34" charset="-122"/>
                <a:cs typeface="Noto Sans" pitchFamily="34" charset="-120"/>
              </a:rPr>
              <a:t>Kiến trúc hệ thống</a:t>
            </a:r>
            <a:endParaRPr lang="en-US" sz="1440" dirty="0">
              <a:latin typeface="Tie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156336" y="1555135"/>
            <a:ext cx="2734551" cy="2622479"/>
          </a:xfrm>
          <a:custGeom>
            <a:avLst/>
            <a:gdLst/>
            <a:ahLst/>
            <a:cxnLst/>
            <a:rect l="l" t="t" r="r" b="b"/>
            <a:pathLst>
              <a:path w="2734551" h="2622479">
                <a:moveTo>
                  <a:pt x="1367275" y="0"/>
                </a:moveTo>
                <a:moveTo>
                  <a:pt x="1367275" y="0"/>
                </a:moveTo>
                <a:cubicBezTo>
                  <a:pt x="2121895" y="0"/>
                  <a:pt x="2734551" y="587547"/>
                  <a:pt x="2734551" y="1311240"/>
                </a:cubicBezTo>
                <a:cubicBezTo>
                  <a:pt x="2734551" y="2034932"/>
                  <a:pt x="2121895" y="2622479"/>
                  <a:pt x="1367275" y="2622479"/>
                </a:cubicBezTo>
                <a:cubicBezTo>
                  <a:pt x="612656" y="2622479"/>
                  <a:pt x="0" y="2034932"/>
                  <a:pt x="0" y="1311240"/>
                </a:cubicBezTo>
                <a:cubicBezTo>
                  <a:pt x="0" y="587547"/>
                  <a:pt x="612656" y="0"/>
                  <a:pt x="1367275" y="0"/>
                </a:cubicBezTo>
                <a:close/>
              </a:path>
            </a:pathLst>
          </a:custGeom>
          <a:solidFill>
            <a:srgbClr val="5049D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3410349" y="2866375"/>
            <a:ext cx="2197652" cy="0"/>
          </a:xfrm>
          <a:custGeom>
            <a:avLst/>
            <a:gdLst/>
            <a:ahLst/>
            <a:cxnLst/>
            <a:rect l="l" t="t" r="r" b="b"/>
            <a:pathLst>
              <a:path w="2197652">
                <a:moveTo>
                  <a:pt x="0" y="0"/>
                </a:moveTo>
                <a:moveTo>
                  <a:pt x="0" y="0"/>
                </a:moveTo>
                <a:quadBezTo>
                  <a:pt x="1098826" y="0"/>
                  <a:pt x="2197652" y="0"/>
                </a:quadBezTo>
              </a:path>
            </a:pathLst>
          </a:custGeom>
          <a:noFill/>
          <a:ln w="19300">
            <a:solidFill>
              <a:srgbClr val="5049D5">
                <a:alpha val="34902"/>
              </a:srgbClr>
            </a:solidFill>
            <a:prstDash val="solid"/>
            <a:headEnd type="none"/>
            <a:tailEnd type="arrow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727" y="2012961"/>
            <a:ext cx="1779769" cy="170682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64" y="1065630"/>
            <a:ext cx="3818508" cy="1731083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23" y="1771434"/>
            <a:ext cx="185283" cy="48305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31410" y="1229208"/>
            <a:ext cx="2630528" cy="54409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Tổng quan kiến trúc</a:t>
            </a:r>
            <a:endParaRPr lang="en-US" sz="1440" dirty="0">
              <a:latin typeface="Tie"/>
            </a:endParaRPr>
          </a:p>
        </p:txBody>
      </p:sp>
      <p:sp>
        <p:nvSpPr>
          <p:cNvPr id="12" name="Text 5"/>
          <p:cNvSpPr/>
          <p:nvPr/>
        </p:nvSpPr>
        <p:spPr>
          <a:xfrm>
            <a:off x="531410" y="1677694"/>
            <a:ext cx="2624925" cy="81278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Ứng dụng được xây dựng theo mô hình client-server với ba thành phần chính: giao diện người dùng, máy chủ xử lý và cơ sở dữ liệu thời tiết.</a:t>
            </a:r>
            <a:endParaRPr lang="en-US" sz="1440" dirty="0">
              <a:latin typeface="Tie"/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364" y="2978189"/>
            <a:ext cx="3818508" cy="1731083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23" y="3520415"/>
            <a:ext cx="185283" cy="483053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31410" y="2996073"/>
            <a:ext cx="2630528" cy="52434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Thành phần front-end</a:t>
            </a:r>
            <a:endParaRPr lang="en-US" sz="1440" dirty="0">
              <a:latin typeface="Tie"/>
            </a:endParaRPr>
          </a:p>
        </p:txBody>
      </p:sp>
      <p:sp>
        <p:nvSpPr>
          <p:cNvPr id="16" name="Text 7"/>
          <p:cNvSpPr/>
          <p:nvPr/>
        </p:nvSpPr>
        <p:spPr>
          <a:xfrm>
            <a:off x="531410" y="3439334"/>
            <a:ext cx="2624925" cy="81278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Giao diện người dùng được phát triển bằng React Native, đảm bảo trải nghiệm nhất quán trên cả iOS và Android với khả năng hiển thị dữ liệu trực quan.</a:t>
            </a:r>
            <a:endParaRPr lang="en-US" sz="1440" dirty="0">
              <a:latin typeface="Tie"/>
            </a:endParaRPr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97128" y="1065630"/>
            <a:ext cx="3818508" cy="1731083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722995" y="1813587"/>
            <a:ext cx="185283" cy="483053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964038" y="1229208"/>
            <a:ext cx="2630528" cy="54222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Thành phần back-end</a:t>
            </a:r>
            <a:endParaRPr lang="en-US" sz="1440" dirty="0">
              <a:latin typeface="Tie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964038" y="1677694"/>
            <a:ext cx="2630528" cy="6576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Máy chủ xử lý được xây dựng trên Node.js, đảm nhiệm việc xử lý yêu cầu, phân tích dữ liệu và tích hợp các API dự báo thời tiết.</a:t>
            </a:r>
            <a:endParaRPr lang="en-US" sz="1440" dirty="0">
              <a:latin typeface="Tie"/>
            </a:endParaRPr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4997128" y="2978189"/>
            <a:ext cx="3818508" cy="1731083"/>
          </a:xfrm>
          <a:prstGeom prst="rect">
            <a:avLst/>
          </a:prstGeom>
        </p:spPr>
      </p:pic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8722995" y="3478262"/>
            <a:ext cx="185283" cy="483053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5964038" y="2978189"/>
            <a:ext cx="2630528" cy="55520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Cơ sở dữ liệu</a:t>
            </a:r>
            <a:endParaRPr lang="en-US" sz="1440" dirty="0">
              <a:latin typeface="Tie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5964038" y="3439334"/>
            <a:ext cx="2630528" cy="6576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Tie"/>
                <a:ea typeface="Noto Sans" pitchFamily="34" charset="-122"/>
                <a:cs typeface="Noto Sans" pitchFamily="34" charset="-120"/>
              </a:rPr>
              <a:t>Hệ thống sử dụng MongoDB để lưu trữ dữ liệu người dùng và Redis cache để tối ưu hóa thời gian phản hồi cho các truy vấn thường xuyên.</a:t>
            </a:r>
            <a:endParaRPr lang="en-US" sz="1440" dirty="0">
              <a:latin typeface="Tie"/>
            </a:endParaRPr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270" y="2499033"/>
            <a:ext cx="734683" cy="734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người dùng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56412" y="1508760"/>
            <a:ext cx="174439" cy="0"/>
          </a:xfrm>
          <a:custGeom>
            <a:avLst/>
            <a:gdLst/>
            <a:ahLst/>
            <a:cxnLst/>
            <a:rect l="l" t="t" r="r" b="b"/>
            <a:pathLst>
              <a:path w="174439">
                <a:moveTo>
                  <a:pt x="174439" y="0"/>
                </a:moveTo>
                <a:moveTo>
                  <a:pt x="174439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7" name="Shape 3"/>
          <p:cNvSpPr/>
          <p:nvPr/>
        </p:nvSpPr>
        <p:spPr>
          <a:xfrm>
            <a:off x="4955413" y="2798064"/>
            <a:ext cx="177670" cy="0"/>
          </a:xfrm>
          <a:custGeom>
            <a:avLst/>
            <a:gdLst/>
            <a:ahLst/>
            <a:cxnLst/>
            <a:rect l="l" t="t" r="r" b="b"/>
            <a:pathLst>
              <a:path w="177670">
                <a:moveTo>
                  <a:pt x="0" y="0"/>
                </a:moveTo>
                <a:moveTo>
                  <a:pt x="0" y="0"/>
                </a:moveTo>
                <a:lnTo>
                  <a:pt x="177670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8" name="Shape 4"/>
          <p:cNvSpPr/>
          <p:nvPr/>
        </p:nvSpPr>
        <p:spPr>
          <a:xfrm>
            <a:off x="4048826" y="4091940"/>
            <a:ext cx="175088" cy="0"/>
          </a:xfrm>
          <a:custGeom>
            <a:avLst/>
            <a:gdLst/>
            <a:ahLst/>
            <a:cxnLst/>
            <a:rect l="l" t="t" r="r" b="b"/>
            <a:pathLst>
              <a:path w="175088">
                <a:moveTo>
                  <a:pt x="175088" y="0"/>
                </a:moveTo>
                <a:moveTo>
                  <a:pt x="175088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9" name="Text 5"/>
          <p:cNvSpPr/>
          <p:nvPr/>
        </p:nvSpPr>
        <p:spPr>
          <a:xfrm>
            <a:off x="4218228" y="1143000"/>
            <a:ext cx="745435" cy="70408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73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4218228" y="3776472"/>
            <a:ext cx="74543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4209084" y="2468880"/>
            <a:ext cx="74543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327671" y="1143000"/>
            <a:ext cx="356707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Thiết kế trực quan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27671" y="1410919"/>
            <a:ext cx="3567074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Giao diện được thiết kế tối giản, trực quan với bố cục hợp lý giúp người dùng dễ dàng tiếp cận thông tin thời tiết.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5248972" y="2221992"/>
            <a:ext cx="356707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 thành phần chính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5248972" y="2487168"/>
            <a:ext cx="3567357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Gồm thanh tìm kiếm, hiển thị thời tiết hiện tại, dự báo theo giờ/ngày, bản đồ thời tiết và cảnh báo thời tiết.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327671" y="3236976"/>
            <a:ext cx="356707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Tính năng tương tác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328585" y="3511296"/>
            <a:ext cx="3567074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Người dùng có thể vuốt, phóng to, thu nhỏ bản đồ, tùy chỉnh đơn vị đo và nhận thông báo về điều kiện thời tiết đặc biệt.</a:t>
            </a:r>
            <a:endParaRPr lang="en-US" sz="144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932" y="1045159"/>
            <a:ext cx="914400" cy="91440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932" y="2350008"/>
            <a:ext cx="914400" cy="914400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932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Quy trình phát triển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183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Mô hình thác nước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5169747967_74k6gc.jpg"/>
          <p:cNvPicPr>
            <a:picLocks noChangeAspect="1"/>
          </p:cNvPicPr>
          <p:nvPr/>
        </p:nvPicPr>
        <p:blipFill>
          <a:blip r:embed="rId6"/>
          <a:srcRect t="16533" b="16533"/>
          <a:stretch/>
        </p:blipFill>
        <p:spPr>
          <a:xfrm>
            <a:off x="221830" y="2993746"/>
            <a:ext cx="2728393" cy="18189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1830" y="1429207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Áp dụng quy trình phát triển tuần tự gồm các giai đoạn: phân tích yêu cầu, thiết kế, lập trình, kiểm thử và triển khai.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3201860" y="2993746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Phương pháp Agile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5169751601_rsXRbs.jpg"/>
          <p:cNvPicPr>
            <a:picLocks noChangeAspect="1"/>
          </p:cNvPicPr>
          <p:nvPr/>
        </p:nvPicPr>
        <p:blipFill>
          <a:blip r:embed="rId7"/>
          <a:srcRect t="16667" b="16667"/>
          <a:stretch/>
        </p:blipFill>
        <p:spPr>
          <a:xfrm>
            <a:off x="3202774" y="1017054"/>
            <a:ext cx="2728393" cy="18189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01499" y="3413455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phương pháp phát triển linh hoạt với các sprint ngắn, cho phép điều chỉnh nhanh và phản hồi liên tục từ người dùng.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619360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cụ phát triển</a:t>
            </a:r>
            <a:endParaRPr lang="en-US" sz="1440" dirty="0"/>
          </a:p>
        </p:txBody>
      </p:sp>
      <p:pic>
        <p:nvPicPr>
          <p:cNvPr id="13" name="Image 4" descr="https://oceandoc-ai.obs.ap-southeast-3.myhuaweicloud.com:443/image_1765169754961_ONvpTe.jpg"/>
          <p:cNvPicPr>
            <a:picLocks noChangeAspect="1"/>
          </p:cNvPicPr>
          <p:nvPr/>
        </p:nvPicPr>
        <p:blipFill>
          <a:blip r:embed="rId8"/>
          <a:srcRect t="16667" b="16667"/>
          <a:stretch/>
        </p:blipFill>
        <p:spPr>
          <a:xfrm>
            <a:off x="6193777" y="2993746"/>
            <a:ext cx="2728393" cy="18189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93600" y="1429207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các công cụ hiện đại như Git để quản lý mã nguồn, Jira để theo dõi tiến độ và các framework phát triển ứng dụng thời tiết.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912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</a:t>
            </a:r>
            <a:r>
              <a:rPr lang="en-US" sz="2592" b="1" dirty="0">
                <a:solidFill>
                  <a:srgbClr val="5049D5"/>
                </a:solidFill>
                <a:latin typeface="Tie"/>
                <a:ea typeface="Noto Sans" pitchFamily="34" charset="-122"/>
                <a:cs typeface="Noto Sans" pitchFamily="34" charset="-120"/>
              </a:rPr>
              <a:t>quả</a:t>
            </a: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và triển khai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Đánh giá hiệu suất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2009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432009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Text 4"/>
          <p:cNvSpPr/>
          <p:nvPr/>
        </p:nvSpPr>
        <p:spPr>
          <a:xfrm>
            <a:off x="432009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Shape 5"/>
          <p:cNvSpPr/>
          <p:nvPr/>
        </p:nvSpPr>
        <p:spPr>
          <a:xfrm>
            <a:off x="3278713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0" name="Shape 6"/>
          <p:cNvSpPr/>
          <p:nvPr/>
        </p:nvSpPr>
        <p:spPr>
          <a:xfrm>
            <a:off x="3278713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Text 7"/>
          <p:cNvSpPr/>
          <p:nvPr/>
        </p:nvSpPr>
        <p:spPr>
          <a:xfrm>
            <a:off x="3278713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2" name="Shape 8"/>
          <p:cNvSpPr/>
          <p:nvPr/>
        </p:nvSpPr>
        <p:spPr>
          <a:xfrm>
            <a:off x="6125417" y="3691236"/>
            <a:ext cx="2586574" cy="0"/>
          </a:xfrm>
          <a:custGeom>
            <a:avLst/>
            <a:gdLst/>
            <a:ahLst/>
            <a:cxnLst/>
            <a:rect l="l" t="t" r="r" b="b"/>
            <a:pathLst>
              <a:path w="2586574">
                <a:moveTo>
                  <a:pt x="0" y="0"/>
                </a:moveTo>
                <a:moveTo>
                  <a:pt x="0" y="0"/>
                </a:moveTo>
                <a:lnTo>
                  <a:pt x="2586574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>
            <a:off x="6125417" y="1076586"/>
            <a:ext cx="429392" cy="306708"/>
          </a:xfrm>
          <a:custGeom>
            <a:avLst/>
            <a:gdLst/>
            <a:ahLst/>
            <a:cxnLst/>
            <a:rect l="l" t="t" r="r" b="b"/>
            <a:pathLst>
              <a:path w="429392" h="306708">
                <a:moveTo>
                  <a:pt x="0" y="0"/>
                </a:moveTo>
                <a:moveTo>
                  <a:pt x="0" y="0"/>
                </a:moveTo>
                <a:lnTo>
                  <a:pt x="429392" y="0"/>
                </a:lnTo>
                <a:lnTo>
                  <a:pt x="429392" y="306708"/>
                </a:lnTo>
                <a:lnTo>
                  <a:pt x="0" y="306708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Text 10"/>
          <p:cNvSpPr/>
          <p:nvPr/>
        </p:nvSpPr>
        <p:spPr>
          <a:xfrm>
            <a:off x="6125417" y="987624"/>
            <a:ext cx="624656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432009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Phương pháp đánh giá</a:t>
            </a:r>
            <a:endParaRPr lang="en-US" sz="1440" dirty="0"/>
          </a:p>
        </p:txBody>
      </p:sp>
      <p:pic>
        <p:nvPicPr>
          <p:cNvPr id="16" name="Image 2" descr="https://oceandoc-ai.obs.ap-southeast-3.myhuaweicloud.com:443/image_1765169752564_9GIoVR.jpg"/>
          <p:cNvPicPr>
            <a:picLocks noChangeAspect="1"/>
          </p:cNvPicPr>
          <p:nvPr/>
        </p:nvPicPr>
        <p:blipFill>
          <a:blip r:embed="rId6"/>
          <a:srcRect t="18624" b="18625"/>
          <a:stretch/>
        </p:blipFill>
        <p:spPr>
          <a:xfrm>
            <a:off x="432009" y="1383295"/>
            <a:ext cx="2582951" cy="16143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2009" y="3697779"/>
            <a:ext cx="235803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các chỉ số đánh giá như độ chính xác dự báo, thời gian phản hồi và khả năng xử lý dữ liệu thời tiết theo thời gian thực.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3278713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kiểm thử</a:t>
            </a:r>
            <a:endParaRPr lang="en-US" sz="1440" dirty="0"/>
          </a:p>
        </p:txBody>
      </p:sp>
      <p:pic>
        <p:nvPicPr>
          <p:cNvPr id="19" name="Image 3" descr="https://oceandoc-ai.obs.ap-southeast-3.myhuaweicloud.com:443/image_1765169756306_DujCWz.jpg"/>
          <p:cNvPicPr>
            <a:picLocks noChangeAspect="1"/>
          </p:cNvPicPr>
          <p:nvPr/>
        </p:nvPicPr>
        <p:blipFill>
          <a:blip r:embed="rId7"/>
          <a:srcRect t="18624" b="18625"/>
          <a:stretch/>
        </p:blipFill>
        <p:spPr>
          <a:xfrm>
            <a:off x="3278713" y="1383295"/>
            <a:ext cx="2582951" cy="16143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78713" y="3697779"/>
            <a:ext cx="235803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đạt độ chính xác 85% cho dự báo ngắn hạn, thời gian phản hồi dưới 2 giây và xử lý được 10.000 yêu cầu đồng thời.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6125417" y="3196052"/>
            <a:ext cx="2358031" cy="37796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 sánh với đối thủ</a:t>
            </a:r>
            <a:endParaRPr lang="en-US" sz="1440" dirty="0"/>
          </a:p>
        </p:txBody>
      </p:sp>
      <p:pic>
        <p:nvPicPr>
          <p:cNvPr id="22" name="Image 4" descr="https://oceandoc-ai.obs.ap-southeast-3.myhuaweicloud.com:443/image_1765169760048_bcz86I.jpg"/>
          <p:cNvPicPr>
            <a:picLocks noChangeAspect="1"/>
          </p:cNvPicPr>
          <p:nvPr/>
        </p:nvPicPr>
        <p:blipFill>
          <a:blip r:embed="rId8"/>
          <a:srcRect t="18624" b="18625"/>
          <a:stretch/>
        </p:blipFill>
        <p:spPr>
          <a:xfrm>
            <a:off x="6125417" y="1383295"/>
            <a:ext cx="2582951" cy="16143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25417" y="3697779"/>
            <a:ext cx="235803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của chúng tôi vượt trội hơn 15% về độ chính xác và nhanh hơn 30% về thời gian phản hồi so với các ứng dụng tương tự.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 hoạch phát triển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31546" y="1234440"/>
            <a:ext cx="2843784" cy="66294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23" y="1014984"/>
            <a:ext cx="2850185" cy="66294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363" y="2884018"/>
            <a:ext cx="2758745" cy="66294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6031546" y="3103474"/>
            <a:ext cx="2878531" cy="6629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98703" y="1163574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Lộ trình phát triển ứng dụng</a:t>
            </a:r>
            <a:endParaRPr lang="en-US" sz="1440" dirty="0"/>
          </a:p>
        </p:txBody>
      </p:sp>
      <p:pic>
        <p:nvPicPr>
          <p:cNvPr id="11" name="Image 6" descr="https://oceandoc-ai.obs.ap-southeast-3.myhuaweicloud.com:443/image_1765169755693_0kPGA2.jpg"/>
          <p:cNvPicPr>
            <a:picLocks noChangeAspect="1"/>
          </p:cNvPicPr>
          <p:nvPr/>
        </p:nvPicPr>
        <p:blipFill>
          <a:blip r:embed="rId10"/>
          <a:srcRect l="10000" r="10000"/>
          <a:stretch/>
        </p:blipFill>
        <p:spPr>
          <a:xfrm>
            <a:off x="3084108" y="963580"/>
            <a:ext cx="2951991" cy="3689989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233923" y="1639519"/>
            <a:ext cx="2850185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Xây dựng lộ trình phát triển theo từng giai đoạn, bao gồm nghiên cứu, thiết kế, lập trình, kiểm thử và triển khai ứng dụng dự báo thời tiết.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498703" y="3032608"/>
            <a:ext cx="258540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công công việc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325363" y="3519526"/>
            <a:ext cx="275874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chia nhiệm vụ cụ thể cho từng thành viên nhóm, xác định vai trò và trách nhiệm trong quá trình phát triển ứng dụng.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6036099" y="1383030"/>
            <a:ext cx="258500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Công nghệ sử dụng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6036099" y="1858975"/>
            <a:ext cx="280265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Liệt kê các công nghệ, ngôn ngữ lập trình, API thời tiết và công cụ phát triển được sử dụng trong dự án.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6031546" y="3252064"/>
            <a:ext cx="25895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Khung thời gian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6031546" y="3738982"/>
            <a:ext cx="287853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kern="0" spc="7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Thiết lập thời hạn hoàn thành cho từng giai đoạn phát triển, đảm bảo tiến độ dự án theo kế hoạch đề ra.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luận</a:t>
            </a:r>
            <a:endParaRPr lang="en-US" sz="14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183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quả đạt được</a:t>
            </a:r>
            <a:endParaRPr lang="en-US" sz="1440" dirty="0"/>
          </a:p>
        </p:txBody>
      </p:sp>
      <p:pic>
        <p:nvPicPr>
          <p:cNvPr id="7" name="Image 2" descr="https://oceandoc-ai.obs.ap-southeast-3.myhuaweicloud.com:443/image_1765169753557_ja9ihh.jpg"/>
          <p:cNvPicPr>
            <a:picLocks noChangeAspect="1"/>
          </p:cNvPicPr>
          <p:nvPr/>
        </p:nvPicPr>
        <p:blipFill>
          <a:blip r:embed="rId6"/>
          <a:srcRect t="16533" b="16533"/>
          <a:stretch/>
        </p:blipFill>
        <p:spPr>
          <a:xfrm>
            <a:off x="221830" y="2993746"/>
            <a:ext cx="2728393" cy="18189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1830" y="1429207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dự báo thời tiết đã hoàn thành các mục tiêu đề ra, cung cấp thông tin chính xác và kịp thời cho người dùng.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3201860" y="2993746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Hạn chế và thách thức</a:t>
            </a:r>
            <a:endParaRPr lang="en-US" sz="1440" dirty="0"/>
          </a:p>
        </p:txBody>
      </p:sp>
      <p:pic>
        <p:nvPicPr>
          <p:cNvPr id="10" name="Image 3" descr="https://oceandoc-ai.obs.ap-southeast-3.myhuaweicloud.com:443/image_1765169757548_Fq5CUV.jpg"/>
          <p:cNvPicPr>
            <a:picLocks noChangeAspect="1"/>
          </p:cNvPicPr>
          <p:nvPr/>
        </p:nvPicPr>
        <p:blipFill>
          <a:blip r:embed="rId7"/>
          <a:srcRect t="16667" b="16667"/>
          <a:stretch/>
        </p:blipFill>
        <p:spPr>
          <a:xfrm>
            <a:off x="3202774" y="1017054"/>
            <a:ext cx="2728393" cy="18189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01499" y="3413455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Dự án còn một số hạn chế về độ chính xác dự báo dài hạn và khả năng xử lý dữ liệu trong điều kiện thời tiết cực đoan.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6193600" y="1005840"/>
            <a:ext cx="2728570" cy="3776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Hướng phát triển tương lai</a:t>
            </a:r>
            <a:endParaRPr lang="en-US" sz="1440" dirty="0"/>
          </a:p>
        </p:txBody>
      </p:sp>
      <p:pic>
        <p:nvPicPr>
          <p:cNvPr id="13" name="Image 4" descr="https://oceandoc-ai.obs.ap-southeast-3.myhuaweicloud.com:443/image_1765169761371_G20pgA.jpg"/>
          <p:cNvPicPr>
            <a:picLocks noChangeAspect="1"/>
          </p:cNvPicPr>
          <p:nvPr/>
        </p:nvPicPr>
        <p:blipFill>
          <a:blip r:embed="rId8"/>
          <a:srcRect t="16667" b="16667"/>
          <a:stretch/>
        </p:blipFill>
        <p:spPr>
          <a:xfrm>
            <a:off x="6193777" y="2993746"/>
            <a:ext cx="2728393" cy="18189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93600" y="1429207"/>
            <a:ext cx="272857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 đề xuất tích hợp AI nâng cao, mở rộng vùng phủ sóng và phát triển tính năng cảnh báo sớm thiên tai.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15396" y="1666794"/>
            <a:ext cx="4313208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1131</Words>
  <Application>Microsoft Office PowerPoint</Application>
  <PresentationFormat>On-screen Show (16:9)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Noto Sans</vt:lpstr>
      <vt:lpstr>Tie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Thúy Kiều</cp:lastModifiedBy>
  <cp:revision>3</cp:revision>
  <dcterms:created xsi:type="dcterms:W3CDTF">2025-12-08T04:58:03Z</dcterms:created>
  <dcterms:modified xsi:type="dcterms:W3CDTF">2025-12-08T05:02:06Z</dcterms:modified>
</cp:coreProperties>
</file>