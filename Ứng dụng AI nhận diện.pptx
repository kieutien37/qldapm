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4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6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5.jpeg"/><Relationship Id="rId7" Type="http://schemas.openxmlformats.org/officeDocument/2006/relationships/image" Target="../media/image37.jp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g"/><Relationship Id="rId11" Type="http://schemas.openxmlformats.org/officeDocument/2006/relationships/image" Target="../media/image41.png"/><Relationship Id="rId5" Type="http://schemas.openxmlformats.org/officeDocument/2006/relationships/image" Target="../media/image35.jpg"/><Relationship Id="rId10" Type="http://schemas.openxmlformats.org/officeDocument/2006/relationships/image" Target="../media/image40.png"/><Relationship Id="rId4" Type="http://schemas.openxmlformats.org/officeDocument/2006/relationships/image" Target="../media/image6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3" Type="http://schemas.openxmlformats.org/officeDocument/2006/relationships/image" Target="../media/image5.jpeg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image" Target="../media/image5.jpeg"/><Relationship Id="rId7" Type="http://schemas.openxmlformats.org/officeDocument/2006/relationships/image" Target="../media/image50.jp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jpg"/><Relationship Id="rId11" Type="http://schemas.openxmlformats.org/officeDocument/2006/relationships/image" Target="../media/image41.png"/><Relationship Id="rId5" Type="http://schemas.openxmlformats.org/officeDocument/2006/relationships/image" Target="../media/image48.jpg"/><Relationship Id="rId10" Type="http://schemas.openxmlformats.org/officeDocument/2006/relationships/image" Target="../media/image40.png"/><Relationship Id="rId4" Type="http://schemas.openxmlformats.org/officeDocument/2006/relationships/image" Target="../media/image6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635" y="3176224"/>
            <a:ext cx="1798729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Kiều Nguyễn Thúy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425148" y="2513798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447253" y="1088078"/>
            <a:ext cx="6249494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2880" b="1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AI nhận diện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703590" y="2588341"/>
            <a:ext cx="773682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hình ảnh thông minh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3329" y="214334"/>
            <a:ext cx="8578704" cy="4659681"/>
          </a:xfrm>
          <a:custGeom>
            <a:avLst/>
            <a:gdLst/>
            <a:ahLst/>
            <a:cxnLst/>
            <a:rect l="l" t="t" r="r" b="b"/>
            <a:pathLst>
              <a:path w="8578704" h="4659681">
                <a:moveTo>
                  <a:pt x="582460" y="0"/>
                </a:moveTo>
                <a:moveTo>
                  <a:pt x="582460" y="0"/>
                </a:moveTo>
                <a:lnTo>
                  <a:pt x="8578704" y="0"/>
                </a:lnTo>
                <a:lnTo>
                  <a:pt x="8578704" y="4077221"/>
                </a:lnTo>
                <a:quadBezTo>
                  <a:pt x="8578704" y="4659681"/>
                  <a:pt x="7996244" y="4659681"/>
                </a:quadBezTo>
                <a:lnTo>
                  <a:pt x="0" y="4659681"/>
                </a:lnTo>
                <a:lnTo>
                  <a:pt x="0" y="582460"/>
                </a:lnTo>
                <a:quadBezTo>
                  <a:pt x="0" y="0"/>
                  <a:pt x="582460" y="0"/>
                </a:quadBezTo>
                <a:close/>
              </a:path>
            </a:pathLst>
          </a:custGeom>
          <a:solidFill>
            <a:srgbClr val="FFFFFF">
              <a:alpha val="1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42407" y="455593"/>
            <a:ext cx="3622979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376302" y="1749068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Tổng quan dự án</a:t>
            </a:r>
            <a:endParaRPr lang="en-US" sz="1440" dirty="0">
              <a:latin typeface="Tie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7561" y="1643912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5209031" y="1762784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Công nghệ và triển khai</a:t>
            </a:r>
            <a:endParaRPr lang="en-US" sz="1440" dirty="0">
              <a:latin typeface="Tie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50811" y="1643912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376780" y="2454071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Quản lý và kết quả</a:t>
            </a:r>
            <a:endParaRPr lang="en-US" sz="1440" dirty="0">
              <a:latin typeface="Tie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7646" y="2335199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912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 err="1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</a:t>
            </a:r>
            <a:r>
              <a:rPr lang="en-US" sz="2592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592" b="1" dirty="0" err="1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</a:t>
            </a:r>
            <a:r>
              <a:rPr lang="en-US" sz="2592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dự án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Mục tiêu nhận diện người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8837" y="948010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97014" y="948233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96751" y="2910535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8777" y="2910531"/>
            <a:ext cx="4282861" cy="1862800"/>
          </a:xfrm>
          <a:custGeom>
            <a:avLst/>
            <a:gdLst/>
            <a:ahLst/>
            <a:cxnLst/>
            <a:rect l="l" t="t" r="r" b="b"/>
            <a:pathLst>
              <a:path w="4282861" h="1862800">
                <a:moveTo>
                  <a:pt x="166608" y="0"/>
                </a:moveTo>
                <a:moveTo>
                  <a:pt x="166608" y="0"/>
                </a:moveTo>
                <a:lnTo>
                  <a:pt x="4116253" y="0"/>
                </a:lnTo>
                <a:quadBezTo>
                  <a:pt x="4282861" y="0"/>
                  <a:pt x="4282861" y="176283"/>
                </a:quadBezTo>
                <a:lnTo>
                  <a:pt x="4282861" y="1686517"/>
                </a:lnTo>
                <a:quadBezTo>
                  <a:pt x="4282861" y="1862800"/>
                  <a:pt x="4116253" y="1862800"/>
                </a:quadBezTo>
                <a:lnTo>
                  <a:pt x="166608" y="1862800"/>
                </a:lnTo>
                <a:quadBezTo>
                  <a:pt x="0" y="1862800"/>
                  <a:pt x="0" y="1686517"/>
                </a:quadBezTo>
                <a:lnTo>
                  <a:pt x="0" y="176283"/>
                </a:lnTo>
                <a:quadBezTo>
                  <a:pt x="0" y="0"/>
                  <a:pt x="166608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852" y="2397516"/>
            <a:ext cx="420786" cy="42078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4120852" y="2901924"/>
            <a:ext cx="420786" cy="420786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597014" y="2397516"/>
            <a:ext cx="420786" cy="42078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4597014" y="2901924"/>
            <a:ext cx="420786" cy="420786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383892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5" name="Text 7"/>
          <p:cNvSpPr/>
          <p:nvPr/>
        </p:nvSpPr>
        <p:spPr>
          <a:xfrm>
            <a:off x="383892" y="158370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Xác định vị trí và đặc điểm khuôn mặt trong hình ảnh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735935" y="158370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tích đặc điểm để xác định nam hoặc nữ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83892" y="332271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tích màu sắc trang phục người dùng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4807407" y="3322710"/>
            <a:ext cx="393373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Sử dụng AI tiên tiến đảm bảo kết quả tin cậy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455826" y="1118003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 diện khuôn mặt</a:t>
            </a:r>
            <a:endParaRPr lang="en-US" sz="1440" dirty="0"/>
          </a:p>
        </p:txBody>
      </p:sp>
      <p:sp>
        <p:nvSpPr>
          <p:cNvPr id="20" name="Shape 12"/>
          <p:cNvSpPr/>
          <p:nvPr/>
        </p:nvSpPr>
        <p:spPr>
          <a:xfrm>
            <a:off x="4735935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1" name="Text 13"/>
          <p:cNvSpPr/>
          <p:nvPr/>
        </p:nvSpPr>
        <p:spPr>
          <a:xfrm>
            <a:off x="4807407" y="1118003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loại giới tính</a:t>
            </a:r>
            <a:endParaRPr lang="en-US" sz="1440" dirty="0"/>
          </a:p>
        </p:txBody>
      </p:sp>
      <p:sp>
        <p:nvSpPr>
          <p:cNvPr id="22" name="Shape 14"/>
          <p:cNvSpPr/>
          <p:nvPr/>
        </p:nvSpPr>
        <p:spPr>
          <a:xfrm>
            <a:off x="383892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3" name="Text 15"/>
          <p:cNvSpPr/>
          <p:nvPr/>
        </p:nvSpPr>
        <p:spPr>
          <a:xfrm>
            <a:off x="455826" y="4197062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 diện màu áo</a:t>
            </a:r>
            <a:endParaRPr lang="en-US" sz="1440" dirty="0"/>
          </a:p>
        </p:txBody>
      </p:sp>
      <p:sp>
        <p:nvSpPr>
          <p:cNvPr id="24" name="Shape 16"/>
          <p:cNvSpPr/>
          <p:nvPr/>
        </p:nvSpPr>
        <p:spPr>
          <a:xfrm>
            <a:off x="4735935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5" name="Text 17"/>
          <p:cNvSpPr/>
          <p:nvPr/>
        </p:nvSpPr>
        <p:spPr>
          <a:xfrm>
            <a:off x="4807407" y="4197062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Độ chính xác cao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AI Image Analysis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10" y="1957730"/>
            <a:ext cx="2365033" cy="27592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7540" y="2513793"/>
            <a:ext cx="749325" cy="749325"/>
          </a:xfrm>
          <a:custGeom>
            <a:avLst/>
            <a:gdLst/>
            <a:ahLst/>
            <a:cxnLst/>
            <a:rect l="l" t="t" r="r" b="b"/>
            <a:pathLst>
              <a:path w="749325" h="749325">
                <a:moveTo>
                  <a:pt x="374662" y="0"/>
                </a:moveTo>
                <a:moveTo>
                  <a:pt x="374662" y="0"/>
                </a:moveTo>
                <a:cubicBezTo>
                  <a:pt x="581444" y="0"/>
                  <a:pt x="749325" y="167881"/>
                  <a:pt x="749325" y="374662"/>
                </a:cubicBezTo>
                <a:cubicBezTo>
                  <a:pt x="749325" y="581444"/>
                  <a:pt x="581444" y="749325"/>
                  <a:pt x="374662" y="749325"/>
                </a:cubicBezTo>
                <a:cubicBezTo>
                  <a:pt x="167881" y="749325"/>
                  <a:pt x="0" y="581444"/>
                  <a:pt x="0" y="374662"/>
                </a:cubicBezTo>
                <a:cubicBezTo>
                  <a:pt x="0" y="167881"/>
                  <a:pt x="167881" y="0"/>
                  <a:pt x="374662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8" name="Shape 3"/>
          <p:cNvSpPr/>
          <p:nvPr/>
        </p:nvSpPr>
        <p:spPr>
          <a:xfrm>
            <a:off x="537349" y="1486114"/>
            <a:ext cx="1035741" cy="1035741"/>
          </a:xfrm>
          <a:custGeom>
            <a:avLst/>
            <a:gdLst/>
            <a:ahLst/>
            <a:cxnLst/>
            <a:rect l="l" t="t" r="r" b="b"/>
            <a:pathLst>
              <a:path w="1035741" h="1035741">
                <a:moveTo>
                  <a:pt x="517870" y="0"/>
                </a:moveTo>
                <a:moveTo>
                  <a:pt x="517870" y="0"/>
                </a:moveTo>
                <a:cubicBezTo>
                  <a:pt x="803691" y="0"/>
                  <a:pt x="1035741" y="232050"/>
                  <a:pt x="1035741" y="517870"/>
                </a:cubicBezTo>
                <a:cubicBezTo>
                  <a:pt x="1035741" y="803691"/>
                  <a:pt x="803691" y="1035741"/>
                  <a:pt x="517870" y="1035741"/>
                </a:cubicBezTo>
                <a:cubicBezTo>
                  <a:pt x="232050" y="1035741"/>
                  <a:pt x="0" y="803691"/>
                  <a:pt x="0" y="517870"/>
                </a:cubicBezTo>
                <a:cubicBezTo>
                  <a:pt x="0" y="232050"/>
                  <a:pt x="232050" y="0"/>
                  <a:pt x="517870" y="0"/>
                </a:cubicBez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9" name="Shape 4"/>
          <p:cNvSpPr/>
          <p:nvPr/>
        </p:nvSpPr>
        <p:spPr>
          <a:xfrm>
            <a:off x="1564975" y="1040130"/>
            <a:ext cx="1281788" cy="1281788"/>
          </a:xfrm>
          <a:custGeom>
            <a:avLst/>
            <a:gdLst/>
            <a:ahLst/>
            <a:cxnLst/>
            <a:rect l="l" t="t" r="r" b="b"/>
            <a:pathLst>
              <a:path w="1281788" h="1281788">
                <a:moveTo>
                  <a:pt x="640894" y="0"/>
                </a:moveTo>
                <a:moveTo>
                  <a:pt x="640894" y="0"/>
                </a:moveTo>
                <a:cubicBezTo>
                  <a:pt x="994613" y="0"/>
                  <a:pt x="1281788" y="287175"/>
                  <a:pt x="1281788" y="640894"/>
                </a:cubicBezTo>
                <a:cubicBezTo>
                  <a:pt x="1281788" y="994613"/>
                  <a:pt x="994613" y="1281788"/>
                  <a:pt x="640894" y="1281788"/>
                </a:cubicBezTo>
                <a:cubicBezTo>
                  <a:pt x="287175" y="1281788"/>
                  <a:pt x="0" y="994613"/>
                  <a:pt x="0" y="640894"/>
                </a:cubicBezTo>
                <a:cubicBezTo>
                  <a:pt x="0" y="287175"/>
                  <a:pt x="287175" y="0"/>
                  <a:pt x="640894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0" name="Shape 5"/>
          <p:cNvSpPr/>
          <p:nvPr/>
        </p:nvSpPr>
        <p:spPr>
          <a:xfrm>
            <a:off x="2523569" y="1695722"/>
            <a:ext cx="982064" cy="982064"/>
          </a:xfrm>
          <a:custGeom>
            <a:avLst/>
            <a:gdLst/>
            <a:ahLst/>
            <a:cxnLst/>
            <a:rect l="l" t="t" r="r" b="b"/>
            <a:pathLst>
              <a:path w="982064" h="982064">
                <a:moveTo>
                  <a:pt x="491032" y="0"/>
                </a:moveTo>
                <a:moveTo>
                  <a:pt x="491032" y="0"/>
                </a:moveTo>
                <a:cubicBezTo>
                  <a:pt x="762040" y="0"/>
                  <a:pt x="982064" y="220024"/>
                  <a:pt x="982064" y="491032"/>
                </a:cubicBezTo>
                <a:cubicBezTo>
                  <a:pt x="982064" y="762040"/>
                  <a:pt x="762040" y="982064"/>
                  <a:pt x="491032" y="982064"/>
                </a:cubicBezTo>
                <a:cubicBezTo>
                  <a:pt x="220024" y="982064"/>
                  <a:pt x="0" y="762040"/>
                  <a:pt x="0" y="491032"/>
                </a:cubicBezTo>
                <a:cubicBezTo>
                  <a:pt x="0" y="220024"/>
                  <a:pt x="220024" y="0"/>
                  <a:pt x="491032" y="0"/>
                </a:cubicBez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1" name="Shape 6"/>
          <p:cNvSpPr/>
          <p:nvPr/>
        </p:nvSpPr>
        <p:spPr>
          <a:xfrm>
            <a:off x="3103858" y="2367638"/>
            <a:ext cx="622755" cy="622755"/>
          </a:xfrm>
          <a:custGeom>
            <a:avLst/>
            <a:gdLst/>
            <a:ahLst/>
            <a:cxnLst/>
            <a:rect l="l" t="t" r="r" b="b"/>
            <a:pathLst>
              <a:path w="622755" h="622755">
                <a:moveTo>
                  <a:pt x="311378" y="0"/>
                </a:moveTo>
                <a:moveTo>
                  <a:pt x="311378" y="0"/>
                </a:moveTo>
                <a:cubicBezTo>
                  <a:pt x="483232" y="0"/>
                  <a:pt x="622755" y="139524"/>
                  <a:pt x="622755" y="311378"/>
                </a:cubicBezTo>
                <a:cubicBezTo>
                  <a:pt x="622755" y="483232"/>
                  <a:pt x="483232" y="622755"/>
                  <a:pt x="311378" y="622755"/>
                </a:cubicBezTo>
                <a:cubicBezTo>
                  <a:pt x="139524" y="622755"/>
                  <a:pt x="0" y="483232"/>
                  <a:pt x="0" y="311378"/>
                </a:cubicBezTo>
                <a:cubicBezTo>
                  <a:pt x="0" y="139524"/>
                  <a:pt x="139524" y="0"/>
                  <a:pt x="311378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2" name="Text 7"/>
          <p:cNvSpPr/>
          <p:nvPr/>
        </p:nvSpPr>
        <p:spPr>
          <a:xfrm>
            <a:off x="619045" y="1679372"/>
            <a:ext cx="872348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1760949" y="1274116"/>
            <a:ext cx="87234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06029" y="2577559"/>
            <a:ext cx="872348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578433" y="1854826"/>
            <a:ext cx="872348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4008620" y="833510"/>
            <a:ext cx="487782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tích hình ảnh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4008620" y="1064460"/>
            <a:ext cx="4865914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Công nghệ xử lý và trích xuất thông tin từ hình ảnh số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4008620" y="1853940"/>
            <a:ext cx="487782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 diện đối tượng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4008620" y="2085746"/>
            <a:ext cx="486587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Xác định người, vật thể trong ảnh bằng thuật toán AI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4008620" y="2874370"/>
            <a:ext cx="487782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loại thuộc tính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4008620" y="3107131"/>
            <a:ext cx="486587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tích giới tính và màu sắc trang phục</a:t>
            </a:r>
            <a:endParaRPr lang="en-US" sz="1440" dirty="0"/>
          </a:p>
        </p:txBody>
      </p:sp>
      <p:sp>
        <p:nvSpPr>
          <p:cNvPr id="22" name="Text 17"/>
          <p:cNvSpPr/>
          <p:nvPr/>
        </p:nvSpPr>
        <p:spPr>
          <a:xfrm>
            <a:off x="4008620" y="3894800"/>
            <a:ext cx="487782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Ứng dụng thực tế</a:t>
            </a:r>
            <a:endParaRPr lang="en-US" sz="1440" dirty="0"/>
          </a:p>
        </p:txBody>
      </p:sp>
      <p:sp>
        <p:nvSpPr>
          <p:cNvPr id="23" name="Text 18"/>
          <p:cNvSpPr/>
          <p:nvPr/>
        </p:nvSpPr>
        <p:spPr>
          <a:xfrm>
            <a:off x="4008620" y="4128516"/>
            <a:ext cx="486587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Giám sát an ninh, thống kê khách hàng, phân tích hành vi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Đối tượng và phạm vi ứng dụng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72165670_B5Pl5E.jpg"/>
          <p:cNvPicPr>
            <a:picLocks noChangeAspect="1"/>
          </p:cNvPicPr>
          <p:nvPr/>
        </p:nvPicPr>
        <p:blipFill>
          <a:blip r:embed="rId5"/>
          <a:srcRect l="21910" r="21910"/>
          <a:stretch/>
        </p:blipFill>
        <p:spPr>
          <a:xfrm>
            <a:off x="374576" y="1495818"/>
            <a:ext cx="2631059" cy="2631059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47937" y="785540"/>
            <a:ext cx="4315724" cy="40523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Nhận diện người</a:t>
            </a:r>
            <a:endParaRPr lang="en-US" sz="1440" dirty="0">
              <a:latin typeface="Tie"/>
            </a:endParaRPr>
          </a:p>
        </p:txBody>
      </p:sp>
      <p:sp>
        <p:nvSpPr>
          <p:cNvPr id="8" name="Text 3"/>
          <p:cNvSpPr/>
          <p:nvPr/>
        </p:nvSpPr>
        <p:spPr>
          <a:xfrm>
            <a:off x="3827468" y="1049450"/>
            <a:ext cx="4707233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Phát hiện con người trong hình ảnh và video thời gian thực.</a:t>
            </a:r>
            <a:endParaRPr lang="en-US" sz="1440" dirty="0">
              <a:latin typeface="Tie"/>
            </a:endParaRPr>
          </a:p>
        </p:txBody>
      </p:sp>
      <p:sp>
        <p:nvSpPr>
          <p:cNvPr id="9" name="Shape 4"/>
          <p:cNvSpPr/>
          <p:nvPr/>
        </p:nvSpPr>
        <p:spPr>
          <a:xfrm>
            <a:off x="3095179" y="899484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0" name="Text 5"/>
          <p:cNvSpPr/>
          <p:nvPr/>
        </p:nvSpPr>
        <p:spPr>
          <a:xfrm>
            <a:off x="3016891" y="885491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4125062" y="1757983"/>
            <a:ext cx="4315724" cy="40523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Phân loại giới tính</a:t>
            </a:r>
            <a:endParaRPr lang="en-US" sz="1440" dirty="0">
              <a:latin typeface="Tie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125062" y="2030474"/>
            <a:ext cx="4707233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Xác định nam/nữ dựa trên đặc điểm khuôn mặt.</a:t>
            </a:r>
            <a:endParaRPr lang="en-US" sz="1440" dirty="0">
              <a:latin typeface="Tie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355839" y="1876218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4" name="Text 9"/>
          <p:cNvSpPr/>
          <p:nvPr/>
        </p:nvSpPr>
        <p:spPr>
          <a:xfrm>
            <a:off x="3277551" y="1862225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4125062" y="2748152"/>
            <a:ext cx="4315724" cy="40523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Nhận diện màu áo</a:t>
            </a:r>
            <a:endParaRPr lang="en-US" sz="1440" dirty="0">
              <a:latin typeface="Tie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125062" y="3013901"/>
            <a:ext cx="4707233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Phân tích và phân loại màu sắc trang phục.</a:t>
            </a:r>
            <a:endParaRPr lang="en-US" sz="1440" dirty="0">
              <a:latin typeface="Tie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3355839" y="2872160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8" name="Text 13"/>
          <p:cNvSpPr/>
          <p:nvPr/>
        </p:nvSpPr>
        <p:spPr>
          <a:xfrm>
            <a:off x="3277551" y="2858166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3784504" y="3722434"/>
            <a:ext cx="4315724" cy="40523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Môi trường ứng dụng</a:t>
            </a:r>
            <a:endParaRPr lang="en-US" sz="1440" dirty="0">
              <a:latin typeface="Tie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784504" y="3991246"/>
            <a:ext cx="4707233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 SC" pitchFamily="34" charset="-122"/>
                <a:cs typeface="Noto Sans SC" pitchFamily="34" charset="-120"/>
              </a:rPr>
              <a:t>Hệ thống giám sát, thống kê dân số và phân tích hành vi.</a:t>
            </a:r>
            <a:endParaRPr lang="en-US" sz="1440" dirty="0">
              <a:latin typeface="Tie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057547" y="3843402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2" name="Text 17"/>
          <p:cNvSpPr/>
          <p:nvPr/>
        </p:nvSpPr>
        <p:spPr>
          <a:xfrm>
            <a:off x="2979259" y="3829408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4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0" y="1147291"/>
            <a:ext cx="3216748" cy="3250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Kiến trúc hệ thống 4 tầng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60191" y="1161333"/>
            <a:ext cx="8618101" cy="1666449"/>
          </a:xfrm>
          <a:custGeom>
            <a:avLst/>
            <a:gdLst/>
            <a:ahLst/>
            <a:cxnLst/>
            <a:rect l="l" t="t" r="r" b="b"/>
            <a:pathLst>
              <a:path w="8618101" h="1666449">
                <a:moveTo>
                  <a:pt x="0" y="1666449"/>
                </a:moveTo>
                <a:moveTo>
                  <a:pt x="0" y="1666449"/>
                </a:moveTo>
                <a:lnTo>
                  <a:pt x="0" y="0"/>
                </a:lnTo>
                <a:lnTo>
                  <a:pt x="8423890" y="0"/>
                </a:lnTo>
                <a:lnTo>
                  <a:pt x="8618101" y="179936"/>
                </a:lnTo>
                <a:lnTo>
                  <a:pt x="8618101" y="166644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A6550"/>
            </a:solidFill>
            <a:prstDash val="solid"/>
          </a:ln>
          <a:effectLst>
            <a:outerShdw blurRad="19050" dist="38100" dir="2700000" algn="bl" rotWithShape="0">
              <a:srgbClr val="1A6550">
                <a:alpha val="21176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50884" y="1370917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1A6550"/>
            </a:solidFill>
            <a:prstDash val="dash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5867557" y="1370917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1A6550"/>
            </a:solidFill>
            <a:prstDash val="dash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265708" y="3041905"/>
            <a:ext cx="8618101" cy="1666449"/>
          </a:xfrm>
          <a:custGeom>
            <a:avLst/>
            <a:gdLst/>
            <a:ahLst/>
            <a:cxnLst/>
            <a:rect l="l" t="t" r="r" b="b"/>
            <a:pathLst>
              <a:path w="8618101" h="1666449">
                <a:moveTo>
                  <a:pt x="0" y="1666449"/>
                </a:moveTo>
                <a:moveTo>
                  <a:pt x="0" y="1666449"/>
                </a:moveTo>
                <a:lnTo>
                  <a:pt x="0" y="0"/>
                </a:lnTo>
                <a:lnTo>
                  <a:pt x="8423890" y="0"/>
                </a:lnTo>
                <a:lnTo>
                  <a:pt x="8618101" y="179936"/>
                </a:lnTo>
                <a:lnTo>
                  <a:pt x="8618101" y="166644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A6550"/>
            </a:solidFill>
            <a:prstDash val="solid"/>
          </a:ln>
          <a:effectLst>
            <a:outerShdw blurRad="19050" dist="38100" dir="2700000" algn="bl" rotWithShape="0">
              <a:srgbClr val="1A6550">
                <a:alpha val="21176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55996" y="3251489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1A6550"/>
            </a:solidFill>
            <a:prstDash val="dash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>
            <a:off x="5872669" y="3251489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1A6550"/>
            </a:solidFill>
            <a:prstDash val="dash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336760" y="1358415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Tầng UI</a:t>
            </a:r>
            <a:endParaRPr lang="en-US" sz="1440" dirty="0"/>
          </a:p>
        </p:txBody>
      </p:sp>
      <p:pic>
        <p:nvPicPr>
          <p:cNvPr id="13" name="Image 2" descr="https://oceandoc-ai.obs.ap-southeast-3.myhuaweicloud.com:443/image_1765172170661_mbipgu.jpg"/>
          <p:cNvPicPr>
            <a:picLocks noChangeAspect="1"/>
          </p:cNvPicPr>
          <p:nvPr/>
        </p:nvPicPr>
        <p:blipFill>
          <a:blip r:embed="rId5"/>
          <a:srcRect t="19888" b="19888"/>
          <a:stretch/>
        </p:blipFill>
        <p:spPr>
          <a:xfrm>
            <a:off x="3449139" y="1328754"/>
            <a:ext cx="2219344" cy="13316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6760" y="1643148"/>
            <a:ext cx="2822506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diện người dùng tương tác trực tiếp với người dùng cuối.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5959175" y="1358415"/>
            <a:ext cx="282174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Tầng API</a:t>
            </a:r>
            <a:endParaRPr lang="en-US" sz="1440" dirty="0"/>
          </a:p>
        </p:txBody>
      </p:sp>
      <p:pic>
        <p:nvPicPr>
          <p:cNvPr id="16" name="Image 3" descr="https://oceandoc-ai.obs.ap-southeast-3.myhuaweicloud.com:443/image_1765172173572_YguxYT.jpg"/>
          <p:cNvPicPr>
            <a:picLocks noChangeAspect="1"/>
          </p:cNvPicPr>
          <p:nvPr/>
        </p:nvPicPr>
        <p:blipFill>
          <a:blip r:embed="rId6"/>
          <a:srcRect t="19888" b="19888"/>
          <a:stretch/>
        </p:blipFill>
        <p:spPr>
          <a:xfrm>
            <a:off x="3454251" y="3209327"/>
            <a:ext cx="2219344" cy="13316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59175" y="1643148"/>
            <a:ext cx="282174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Xử lý yêu cầu, kết nối UI với các model AI.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336760" y="3238987"/>
            <a:ext cx="2827618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Tầng Model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336760" y="3523721"/>
            <a:ext cx="282761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Chứa YOLO và DeepFace để phân tích hình ảnh.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5965051" y="3238987"/>
            <a:ext cx="282174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Tầng Database</a:t>
            </a:r>
            <a:endParaRPr lang="en-US" sz="1440" dirty="0"/>
          </a:p>
        </p:txBody>
      </p:sp>
      <p:sp>
        <p:nvSpPr>
          <p:cNvPr id="21" name="Text 15"/>
          <p:cNvSpPr/>
          <p:nvPr/>
        </p:nvSpPr>
        <p:spPr>
          <a:xfrm>
            <a:off x="5965051" y="3523721"/>
            <a:ext cx="282174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Lưu trữ dữ liệu người dùng và kết quả nhận diện.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 trình xử lý dữ liệu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63" y="2227705"/>
            <a:ext cx="7469675" cy="114894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324665" y="319376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1A65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273141" y="3394978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Shape 4"/>
          <p:cNvSpPr/>
          <p:nvPr/>
        </p:nvSpPr>
        <p:spPr>
          <a:xfrm>
            <a:off x="3370620" y="295600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1A65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319096" y="3157213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40" dirty="0"/>
          </a:p>
        </p:txBody>
      </p:sp>
      <p:sp>
        <p:nvSpPr>
          <p:cNvPr id="11" name="Shape 6"/>
          <p:cNvSpPr/>
          <p:nvPr/>
        </p:nvSpPr>
        <p:spPr>
          <a:xfrm>
            <a:off x="5518209" y="224599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1A65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66685" y="2447205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40" dirty="0"/>
          </a:p>
        </p:txBody>
      </p:sp>
      <p:sp>
        <p:nvSpPr>
          <p:cNvPr id="13" name="Shape 8"/>
          <p:cNvSpPr/>
          <p:nvPr/>
        </p:nvSpPr>
        <p:spPr>
          <a:xfrm>
            <a:off x="7689252" y="238903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1A65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37728" y="2590242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73820" y="1114401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 thập dữ liệu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466078" y="815873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Tiền xử lý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466078" y="1368169"/>
            <a:ext cx="1991962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Chuẩn hóa kích thước và định dạng ảnh trước khi phân tích.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4650244" y="2899331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tích AI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4650244" y="3451627"/>
            <a:ext cx="1991962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YOLO nhận diện người, DeepFace phân tích khuôn mặt.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6912727" y="3047442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Xử lý màu sắc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6912727" y="3599738"/>
            <a:ext cx="1991962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Thuật toán K-Means phân đoạn và xác định màu áo.</a:t>
            </a:r>
            <a:endParaRPr lang="en-US" sz="1440" dirty="0"/>
          </a:p>
        </p:txBody>
      </p:sp>
      <p:sp>
        <p:nvSpPr>
          <p:cNvPr id="22" name="Text 17"/>
          <p:cNvSpPr/>
          <p:nvPr/>
        </p:nvSpPr>
        <p:spPr>
          <a:xfrm>
            <a:off x="273820" y="1666698"/>
            <a:ext cx="1991962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Hình ảnh từ camera hoặc tệp được nhập vào hệ thống.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912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1A6550"/>
                </a:solidFill>
                <a:latin typeface="Tie"/>
                <a:ea typeface="Noto Sans" pitchFamily="34" charset="-122"/>
                <a:cs typeface="Noto Sans" pitchFamily="34" charset="-120"/>
              </a:rPr>
              <a:t>Công nghệ và triển khai</a:t>
            </a:r>
            <a:endParaRPr lang="en-US" sz="1440" dirty="0">
              <a:latin typeface="Tie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YOLO và DeepFace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72171656_ESE0GN.jpg"/>
          <p:cNvPicPr>
            <a:picLocks noChangeAspect="1"/>
          </p:cNvPicPr>
          <p:nvPr/>
        </p:nvPicPr>
        <p:blipFill>
          <a:blip r:embed="rId5"/>
          <a:srcRect l="33146" r="33146"/>
          <a:stretch/>
        </p:blipFill>
        <p:spPr>
          <a:xfrm>
            <a:off x="6607984" y="891341"/>
            <a:ext cx="2289951" cy="38165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767469" y="954956"/>
            <a:ext cx="5840516" cy="74145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46064" y="952474"/>
            <a:ext cx="2116701" cy="746413"/>
          </a:xfrm>
          <a:custGeom>
            <a:avLst/>
            <a:gdLst/>
            <a:ahLst/>
            <a:cxnLst/>
            <a:rect l="l" t="t" r="r" b="b"/>
            <a:pathLst>
              <a:path w="2116701" h="746413">
                <a:moveTo>
                  <a:pt x="100759" y="0"/>
                </a:moveTo>
                <a:moveTo>
                  <a:pt x="100759" y="0"/>
                </a:moveTo>
                <a:lnTo>
                  <a:pt x="2015942" y="0"/>
                </a:lnTo>
                <a:quadBezTo>
                  <a:pt x="2116701" y="0"/>
                  <a:pt x="2116701" y="93302"/>
                </a:quadBezTo>
                <a:lnTo>
                  <a:pt x="2116701" y="653112"/>
                </a:lnTo>
                <a:quadBezTo>
                  <a:pt x="2116701" y="746413"/>
                  <a:pt x="2015942" y="746413"/>
                </a:quadBezTo>
                <a:lnTo>
                  <a:pt x="100759" y="746413"/>
                </a:lnTo>
                <a:quadBezTo>
                  <a:pt x="0" y="746413"/>
                  <a:pt x="0" y="653112"/>
                </a:quadBezTo>
                <a:lnTo>
                  <a:pt x="0" y="93302"/>
                </a:lnTo>
                <a:quadBezTo>
                  <a:pt x="0" y="0"/>
                  <a:pt x="100759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9" name="Text 3"/>
          <p:cNvSpPr/>
          <p:nvPr/>
        </p:nvSpPr>
        <p:spPr>
          <a:xfrm>
            <a:off x="302803" y="955349"/>
            <a:ext cx="2052374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YOLO là gì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2455479" y="918773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Thuật toán nhận diện đối tượng thời gian thực, phát hiện người và vật thể.</a:t>
            </a:r>
            <a:endParaRPr lang="en-US" sz="144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67498" y="1935830"/>
            <a:ext cx="5827117" cy="74615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246102" y="1935830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3" name="Text 6"/>
          <p:cNvSpPr/>
          <p:nvPr/>
        </p:nvSpPr>
        <p:spPr>
          <a:xfrm>
            <a:off x="290932" y="1934001"/>
            <a:ext cx="2064245" cy="749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Ưu điểm YOLO</a:t>
            </a:r>
            <a:endParaRPr lang="en-US" sz="1440" dirty="0"/>
          </a:p>
        </p:txBody>
      </p:sp>
      <p:sp>
        <p:nvSpPr>
          <p:cNvPr id="14" name="Text 7"/>
          <p:cNvSpPr/>
          <p:nvPr/>
        </p:nvSpPr>
        <p:spPr>
          <a:xfrm>
            <a:off x="2455792" y="1901997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Tốc độ nhanh, độ chính xác cao, phù hợp ứng dụng thời gian thực.</a:t>
            </a:r>
            <a:endParaRPr lang="en-US" sz="144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67469" y="2919011"/>
            <a:ext cx="5827117" cy="7461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46064" y="2919011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7" name="Text 9"/>
          <p:cNvSpPr/>
          <p:nvPr/>
        </p:nvSpPr>
        <p:spPr>
          <a:xfrm>
            <a:off x="279062" y="2917182"/>
            <a:ext cx="2076115" cy="749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DeepFace là gì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455479" y="2885178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Công nghệ nhận diện khuôn mặt, phân tích giới tính và đặc điểm.</a:t>
            </a:r>
            <a:endParaRPr lang="en-US" sz="144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67469" y="3906887"/>
            <a:ext cx="5827117" cy="74615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246064" y="3906887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21" name="Text 12"/>
          <p:cNvSpPr/>
          <p:nvPr/>
        </p:nvSpPr>
        <p:spPr>
          <a:xfrm>
            <a:off x="249386" y="3909631"/>
            <a:ext cx="2136653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Kết hợp hai công nghệ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2455479" y="3873055"/>
            <a:ext cx="39589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YOLO phát hiện người, DeepFace nhận diện khuôn mặt và phân tích giới tính.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Thuật toán nhận diện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72175431_6GPx2R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46079" y="1245829"/>
            <a:ext cx="2651842" cy="2651842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YOLO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253537" y="1370708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 diện đối tượng dựa trên mạng nơ-ron tích chập.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DeepFace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6002866" y="1370686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tích khuôn mặt và nhận diện giới tính.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K-Means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cụm màu sắc để nhận diện màu áo.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OpenCV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Xử lý ảnh và tiền xử lý dữ liệu đầu vào.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Cấu trúc code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73332" y="2047055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0CBE7C"/>
          </a:solidFill>
          <a:ln/>
        </p:spPr>
      </p:sp>
      <p:pic>
        <p:nvPicPr>
          <p:cNvPr id="7" name="Image 2" descr="https://oceandoc-ai.obs.ap-southeast-3.myhuaweicloud.com/ppt_list_page/_19052329831_LCg0aP1732514685662-0536160787312864.png?authorization=c2ltcGxlLWp3dCBhaz1zcGFya2Rlc2s4MDAwMDAwMDAwMDE7ZXhwPTMzMDkzMTQ2OTQ7YWxnbz1obWFjLXNoYTI1NjtzaWc9T3hwcDhvbUw1WGhtUVRNQ050c1pjQVc1cWxOTWQzT3FCQitYeVFiM1pxVT0=&amp;x_location=7YfmxI7B7uKO7jlRxIftd60XeLD=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048" y="2149770"/>
            <a:ext cx="297847" cy="29784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573332" y="3031288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pic>
        <p:nvPicPr>
          <p:cNvPr id="9" name="Image 3" descr="https://oceandoc-ai.obs.ap-southeast-3.myhuaweicloud.com/ppt_list_page/_19052329831_uTDMEZ1732514694176-08056073287339853.png?authorization=c2ltcGxlLWp3dCBhaz1zcGFya2Rlc2s4MDAwMDAwMDAwMDE7ZXhwPTMzMDkzMTQ3MDE7YWxnbz1obWFjLXNoYTI1NjtzaWc9ekxLaW9idTh2eEdNdzVVV0xXSXNsYzJWUFNzaGNESml5ZzJnNUdKZHNKQT0=&amp;x_location=7YfmxI7B7uKO7jlRxIftd60XeLD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7998" y="3125954"/>
            <a:ext cx="313947" cy="31394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573332" y="4059393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0CBE7C"/>
          </a:solidFill>
          <a:ln/>
        </p:spPr>
      </p:sp>
      <p:pic>
        <p:nvPicPr>
          <p:cNvPr id="11" name="Image 4" descr="https://oceandoc-ai.obs.ap-southeast-3.myhuaweicloud.com/ppt_list_page/_19052329831_y63oFi1732514699286-07869239987903869.png?authorization=c2ltcGxlLWp3dCBhaz1zcGFya2Rlc2s4MDAwMDAwMDAwMDE7ZXhwPTMzMDkzMTQ3MDY7YWxnbz1obWFjLXNoYTI1NjtzaWc9eXd1OXk4NisvcExnV3NOUmVIdHd4RzRKcnJCUkhYM3VxdStpUzJUTVI4RT0=&amp;x_location=7YfmxI7B7uKO7jlRxIftd60XeLD=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073" y="4166134"/>
            <a:ext cx="289797" cy="28979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573332" y="1055972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3401" y="1166041"/>
            <a:ext cx="283140" cy="28314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37" y="363251"/>
            <a:ext cx="3436864" cy="458248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21080" y="83351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Cấu trúc thư mục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4121080" y="1064460"/>
            <a:ext cx="475372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Tổ chức mã nguồn theo chức năng, dễ bảo trì và mở rộng.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4121080" y="185394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Mô-đun chính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4121080" y="208574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chia thành các mô-đun xử lý ảnh, AI và giao diện.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4121080" y="287437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Luồng dữ liệu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4121080" y="3107131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Quy trình từ nhập ảnh đến xử lý và hiển thị kết quả.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4121080" y="389480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Tích hợp API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4121080" y="412851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Kết nối với YOLO và DeepFace thông qua giao diện lập trình.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Huấn luyện model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8837" y="948010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97014" y="948233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96751" y="2910535"/>
            <a:ext cx="4283050" cy="1862633"/>
          </a:xfrm>
          <a:custGeom>
            <a:avLst/>
            <a:gdLst/>
            <a:ahLst/>
            <a:cxnLst/>
            <a:rect l="l" t="t" r="r" b="b"/>
            <a:pathLst>
              <a:path w="4283050" h="1862633">
                <a:moveTo>
                  <a:pt x="176267" y="0"/>
                </a:moveTo>
                <a:moveTo>
                  <a:pt x="176267" y="0"/>
                </a:moveTo>
                <a:lnTo>
                  <a:pt x="4106782" y="0"/>
                </a:lnTo>
                <a:quadBezTo>
                  <a:pt x="4283050" y="0"/>
                  <a:pt x="4283050" y="176267"/>
                </a:quadBezTo>
                <a:lnTo>
                  <a:pt x="4283050" y="1686366"/>
                </a:lnTo>
                <a:quadBezTo>
                  <a:pt x="4283050" y="1862633"/>
                  <a:pt x="4106782" y="1862633"/>
                </a:quadBezTo>
                <a:lnTo>
                  <a:pt x="176267" y="1862633"/>
                </a:lnTo>
                <a:quadBezTo>
                  <a:pt x="0" y="1862633"/>
                  <a:pt x="0" y="1686366"/>
                </a:quadBezTo>
                <a:lnTo>
                  <a:pt x="0" y="176267"/>
                </a:lnTo>
                <a:quadBezTo>
                  <a:pt x="0" y="0"/>
                  <a:pt x="176267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8777" y="2910531"/>
            <a:ext cx="4282861" cy="1862800"/>
          </a:xfrm>
          <a:custGeom>
            <a:avLst/>
            <a:gdLst/>
            <a:ahLst/>
            <a:cxnLst/>
            <a:rect l="l" t="t" r="r" b="b"/>
            <a:pathLst>
              <a:path w="4282861" h="1862800">
                <a:moveTo>
                  <a:pt x="166608" y="0"/>
                </a:moveTo>
                <a:moveTo>
                  <a:pt x="166608" y="0"/>
                </a:moveTo>
                <a:lnTo>
                  <a:pt x="4116253" y="0"/>
                </a:lnTo>
                <a:quadBezTo>
                  <a:pt x="4282861" y="0"/>
                  <a:pt x="4282861" y="176283"/>
                </a:quadBezTo>
                <a:lnTo>
                  <a:pt x="4282861" y="1686517"/>
                </a:lnTo>
                <a:quadBezTo>
                  <a:pt x="4282861" y="1862800"/>
                  <a:pt x="4116253" y="1862800"/>
                </a:quadBezTo>
                <a:lnTo>
                  <a:pt x="166608" y="1862800"/>
                </a:lnTo>
                <a:quadBezTo>
                  <a:pt x="0" y="1862800"/>
                  <a:pt x="0" y="1686517"/>
                </a:quadBezTo>
                <a:lnTo>
                  <a:pt x="0" y="176283"/>
                </a:lnTo>
                <a:quadBezTo>
                  <a:pt x="0" y="0"/>
                  <a:pt x="166608" y="0"/>
                </a:quadBezTo>
                <a:close/>
              </a:path>
            </a:pathLst>
          </a:custGeom>
          <a:solidFill>
            <a:srgbClr val="1A6550">
              <a:alpha val="0"/>
            </a:srgbClr>
          </a:solidFill>
          <a:ln w="9525">
            <a:solidFill>
              <a:srgbClr val="1A655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852" y="2397516"/>
            <a:ext cx="420786" cy="42078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4120852" y="2901924"/>
            <a:ext cx="420786" cy="420786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597014" y="2397516"/>
            <a:ext cx="420786" cy="42078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4597014" y="2901924"/>
            <a:ext cx="420786" cy="420786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383892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5" name="Text 7"/>
          <p:cNvSpPr/>
          <p:nvPr/>
        </p:nvSpPr>
        <p:spPr>
          <a:xfrm>
            <a:off x="383892" y="158370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Tập hợp ảnh người với nhiều góc độ, ánh sáng và trang phục đa dạng.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735935" y="158370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Chuẩn hóa kích thước, cân bằng màu sắc và gán nhãn cho từng đối tượng.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83892" y="3322710"/>
            <a:ext cx="400520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Chia tập dữ liệu thành training (70%), validation (15%) và testing (15%).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4807407" y="3322710"/>
            <a:ext cx="393373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Áp dụng kỹ thuật xoay, lật, thay đổi độ sáng để đa dạng hóa mẫu.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455826" y="1118003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 thập dữ liệu</a:t>
            </a:r>
            <a:endParaRPr lang="en-US" sz="1440" dirty="0"/>
          </a:p>
        </p:txBody>
      </p:sp>
      <p:sp>
        <p:nvSpPr>
          <p:cNvPr id="20" name="Shape 12"/>
          <p:cNvSpPr/>
          <p:nvPr/>
        </p:nvSpPr>
        <p:spPr>
          <a:xfrm>
            <a:off x="4735935" y="1051608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1" name="Text 13"/>
          <p:cNvSpPr/>
          <p:nvPr/>
        </p:nvSpPr>
        <p:spPr>
          <a:xfrm>
            <a:off x="4807407" y="1118003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Tiền xử lý</a:t>
            </a:r>
            <a:endParaRPr lang="en-US" sz="1440" dirty="0"/>
          </a:p>
        </p:txBody>
      </p:sp>
      <p:sp>
        <p:nvSpPr>
          <p:cNvPr id="22" name="Shape 14"/>
          <p:cNvSpPr/>
          <p:nvPr/>
        </p:nvSpPr>
        <p:spPr>
          <a:xfrm>
            <a:off x="383892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3" name="Text 15"/>
          <p:cNvSpPr/>
          <p:nvPr/>
        </p:nvSpPr>
        <p:spPr>
          <a:xfrm>
            <a:off x="455826" y="4197062"/>
            <a:ext cx="386207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Phân chia dataset</a:t>
            </a:r>
            <a:endParaRPr lang="en-US" sz="1440" dirty="0"/>
          </a:p>
        </p:txBody>
      </p:sp>
      <p:sp>
        <p:nvSpPr>
          <p:cNvPr id="24" name="Shape 16"/>
          <p:cNvSpPr/>
          <p:nvPr/>
        </p:nvSpPr>
        <p:spPr>
          <a:xfrm>
            <a:off x="4735935" y="4130667"/>
            <a:ext cx="4005207" cy="525983"/>
          </a:xfrm>
          <a:custGeom>
            <a:avLst/>
            <a:gdLst/>
            <a:ahLst/>
            <a:cxnLst/>
            <a:rect l="l" t="t" r="r" b="b"/>
            <a:pathLst>
              <a:path w="4005207" h="525983">
                <a:moveTo>
                  <a:pt x="130084" y="0"/>
                </a:moveTo>
                <a:moveTo>
                  <a:pt x="130084" y="0"/>
                </a:moveTo>
                <a:lnTo>
                  <a:pt x="3875122" y="0"/>
                </a:lnTo>
                <a:quadBezTo>
                  <a:pt x="4005207" y="0"/>
                  <a:pt x="4005207" y="130084"/>
                </a:quadBezTo>
                <a:lnTo>
                  <a:pt x="4005207" y="395898"/>
                </a:lnTo>
                <a:quadBezTo>
                  <a:pt x="4005207" y="525983"/>
                  <a:pt x="3875122" y="525983"/>
                </a:quadBezTo>
                <a:lnTo>
                  <a:pt x="130084" y="525983"/>
                </a:lnTo>
                <a:quadBezTo>
                  <a:pt x="0" y="525983"/>
                  <a:pt x="0" y="395898"/>
                </a:quadBezTo>
                <a:lnTo>
                  <a:pt x="0" y="130084"/>
                </a:lnTo>
                <a:quadBezTo>
                  <a:pt x="0" y="0"/>
                  <a:pt x="130084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25" name="Text 17"/>
          <p:cNvSpPr/>
          <p:nvPr/>
        </p:nvSpPr>
        <p:spPr>
          <a:xfrm>
            <a:off x="4807407" y="4197062"/>
            <a:ext cx="388252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Tăng cường dữ liệu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diện CustomTkinter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3085139" y="1107892"/>
            <a:ext cx="2973722" cy="322153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5139" y="1107892"/>
            <a:ext cx="2973722" cy="32215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27652" y="1634463"/>
            <a:ext cx="68869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4227652" y="2382435"/>
            <a:ext cx="68869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4087853" y="3064806"/>
            <a:ext cx="968295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4166140" y="3780784"/>
            <a:ext cx="81172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69204" y="1320751"/>
            <a:ext cx="2750173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Thiết kế hiện đại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69204" y="1630522"/>
            <a:ext cx="275017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Giao diện tối giản với màu sắc hài hòa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124694" y="1320751"/>
            <a:ext cx="276084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Bố cục hợp lý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6124651" y="1630522"/>
            <a:ext cx="276089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Sắp xếp các thành phần trực quan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269204" y="3012781"/>
            <a:ext cx="2750173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Tính năng chính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69204" y="3332074"/>
            <a:ext cx="275017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 diện người, phân tích giới tính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124694" y="3012781"/>
            <a:ext cx="276084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Trải nghiệm người dùng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124694" y="3332074"/>
            <a:ext cx="276084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Dễ sử dụng, phản hồi nhanh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 trình phát triển Agile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95682" y="1448012"/>
            <a:ext cx="752635" cy="406423"/>
          </a:xfrm>
          <a:custGeom>
            <a:avLst/>
            <a:gdLst/>
            <a:ahLst/>
            <a:cxnLst/>
            <a:rect l="l" t="t" r="r" b="b"/>
            <a:pathLst>
              <a:path w="752635" h="406423">
                <a:moveTo>
                  <a:pt x="103558" y="0"/>
                </a:moveTo>
                <a:moveTo>
                  <a:pt x="103558" y="0"/>
                </a:moveTo>
                <a:lnTo>
                  <a:pt x="649077" y="0"/>
                </a:lnTo>
                <a:quadBezTo>
                  <a:pt x="752635" y="0"/>
                  <a:pt x="752635" y="103558"/>
                </a:quadBezTo>
                <a:lnTo>
                  <a:pt x="752635" y="302865"/>
                </a:lnTo>
                <a:quadBezTo>
                  <a:pt x="752635" y="406423"/>
                  <a:pt x="649077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1A6550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927512" y="2061696"/>
            <a:ext cx="1288975" cy="406423"/>
          </a:xfrm>
          <a:custGeom>
            <a:avLst/>
            <a:gdLst/>
            <a:ahLst/>
            <a:cxnLst/>
            <a:rect l="l" t="t" r="r" b="b"/>
            <a:pathLst>
              <a:path w="1288975" h="406423">
                <a:moveTo>
                  <a:pt x="103558" y="0"/>
                </a:moveTo>
                <a:moveTo>
                  <a:pt x="103558" y="0"/>
                </a:moveTo>
                <a:lnTo>
                  <a:pt x="1185418" y="0"/>
                </a:lnTo>
                <a:quadBezTo>
                  <a:pt x="1288975" y="0"/>
                  <a:pt x="1288975" y="103558"/>
                </a:quadBezTo>
                <a:lnTo>
                  <a:pt x="1288975" y="302865"/>
                </a:lnTo>
                <a:quadBezTo>
                  <a:pt x="1288975" y="406423"/>
                  <a:pt x="1185418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8" name="Shape 4"/>
          <p:cNvSpPr/>
          <p:nvPr/>
        </p:nvSpPr>
        <p:spPr>
          <a:xfrm>
            <a:off x="3562625" y="2675381"/>
            <a:ext cx="2018750" cy="406423"/>
          </a:xfrm>
          <a:custGeom>
            <a:avLst/>
            <a:gdLst/>
            <a:ahLst/>
            <a:cxnLst/>
            <a:rect l="l" t="t" r="r" b="b"/>
            <a:pathLst>
              <a:path w="2018750" h="406423">
                <a:moveTo>
                  <a:pt x="103558" y="0"/>
                </a:moveTo>
                <a:moveTo>
                  <a:pt x="103558" y="0"/>
                </a:moveTo>
                <a:lnTo>
                  <a:pt x="1915192" y="0"/>
                </a:lnTo>
                <a:quadBezTo>
                  <a:pt x="2018750" y="0"/>
                  <a:pt x="2018750" y="103558"/>
                </a:quadBezTo>
                <a:lnTo>
                  <a:pt x="2018750" y="302865"/>
                </a:lnTo>
                <a:quadBezTo>
                  <a:pt x="2018750" y="406423"/>
                  <a:pt x="1915192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1A6550">
              <a:alpha val="2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3215323" y="3289066"/>
            <a:ext cx="2713355" cy="406423"/>
          </a:xfrm>
          <a:custGeom>
            <a:avLst/>
            <a:gdLst/>
            <a:ahLst/>
            <a:cxnLst/>
            <a:rect l="l" t="t" r="r" b="b"/>
            <a:pathLst>
              <a:path w="2713355" h="406423">
                <a:moveTo>
                  <a:pt x="103558" y="0"/>
                </a:moveTo>
                <a:moveTo>
                  <a:pt x="103558" y="0"/>
                </a:moveTo>
                <a:lnTo>
                  <a:pt x="2609797" y="0"/>
                </a:lnTo>
                <a:quadBezTo>
                  <a:pt x="2713355" y="0"/>
                  <a:pt x="2713355" y="103558"/>
                </a:quadBezTo>
                <a:lnTo>
                  <a:pt x="2713355" y="302865"/>
                </a:lnTo>
                <a:quadBezTo>
                  <a:pt x="2713355" y="406423"/>
                  <a:pt x="2609797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0" name="Text 6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Phương pháp Scrum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253537" y="1370708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Quy trình lặp, phân chia công việc thành sprints 2 tuần.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Planning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6002866" y="1370686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Lập kế hoạch, phân công nhiệm vụ cho từng giai đoạn.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Daily Standup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Họp ngắn hàng ngày, cập nhật tiến độ và giải quyết vướng mắc.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Review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Đánh giá kết quả, demo sản phẩm sau mỗi sprint.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912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1A6550"/>
                </a:solidFill>
                <a:latin typeface="Tie"/>
                <a:ea typeface="Noto Sans" pitchFamily="34" charset="-122"/>
                <a:cs typeface="Noto Sans" pitchFamily="34" charset="-120"/>
              </a:rPr>
              <a:t>Quản lý và kết quả</a:t>
            </a:r>
            <a:endParaRPr lang="en-US" sz="1440" dirty="0">
              <a:latin typeface="Tie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cụ quản lý dự án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72182114_Oqi6LF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926" y="1147393"/>
            <a:ext cx="1554480" cy="1554480"/>
          </a:xfrm>
          <a:prstGeom prst="ellipse">
            <a:avLst/>
          </a:prstGeom>
        </p:spPr>
      </p:pic>
      <p:pic>
        <p:nvPicPr>
          <p:cNvPr id="7" name="Image 3" descr="https://oceandoc-ai.obs.ap-southeast-3.myhuaweicloud.com:443/image_1765172185115_UsoJ5X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94760" y="1147393"/>
            <a:ext cx="1554480" cy="1554480"/>
          </a:xfrm>
          <a:prstGeom prst="ellipse">
            <a:avLst/>
          </a:prstGeom>
        </p:spPr>
      </p:pic>
      <p:pic>
        <p:nvPicPr>
          <p:cNvPr id="8" name="Image 4" descr="https://oceandoc-ai.obs.ap-southeast-3.myhuaweicloud.com:443/image_1765172188633_ozLEQ7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84594" y="1147393"/>
            <a:ext cx="1554480" cy="1554480"/>
          </a:xfrm>
          <a:prstGeom prst="ellipse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09403" y="1724730"/>
            <a:ext cx="399806" cy="399806"/>
          </a:xfrm>
          <a:custGeom>
            <a:avLst/>
            <a:gdLst/>
            <a:ahLst/>
            <a:cxnLst/>
            <a:rect l="l" t="t" r="r" b="b"/>
            <a:pathLst>
              <a:path w="399806" h="399806">
                <a:moveTo>
                  <a:pt x="199903" y="0"/>
                </a:moveTo>
                <a:moveTo>
                  <a:pt x="199903" y="0"/>
                </a:moveTo>
                <a:cubicBezTo>
                  <a:pt x="310233" y="0"/>
                  <a:pt x="399806" y="89574"/>
                  <a:pt x="399806" y="199903"/>
                </a:cubicBezTo>
                <a:cubicBezTo>
                  <a:pt x="399806" y="310233"/>
                  <a:pt x="310233" y="399806"/>
                  <a:pt x="199903" y="399806"/>
                </a:cubicBezTo>
                <a:cubicBezTo>
                  <a:pt x="89574" y="399806"/>
                  <a:pt x="0" y="310233"/>
                  <a:pt x="0" y="199903"/>
                </a:cubicBezTo>
                <a:cubicBezTo>
                  <a:pt x="0" y="89574"/>
                  <a:pt x="89574" y="0"/>
                  <a:pt x="199903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0" name="Text 3"/>
          <p:cNvSpPr/>
          <p:nvPr/>
        </p:nvSpPr>
        <p:spPr>
          <a:xfrm>
            <a:off x="541954" y="1696033"/>
            <a:ext cx="53470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Shape 4"/>
          <p:cNvSpPr/>
          <p:nvPr/>
        </p:nvSpPr>
        <p:spPr>
          <a:xfrm>
            <a:off x="1367470" y="3551075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47654">
            <a:solidFill>
              <a:srgbClr val="1A6550"/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4357304" y="3551075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47654">
            <a:solidFill>
              <a:srgbClr val="0CBE7C"/>
            </a:solidFill>
            <a:prstDash val="solid"/>
            <a:headEnd type="none"/>
            <a:tailEnd type="none"/>
          </a:ln>
        </p:spPr>
      </p:sp>
      <p:sp>
        <p:nvSpPr>
          <p:cNvPr id="13" name="Shape 6"/>
          <p:cNvSpPr/>
          <p:nvPr/>
        </p:nvSpPr>
        <p:spPr>
          <a:xfrm>
            <a:off x="7347139" y="3551075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47654">
            <a:solidFill>
              <a:srgbClr val="1A6550"/>
            </a:solidFill>
            <a:prstDash val="solid"/>
            <a:headEnd type="none"/>
            <a:tailEnd type="none"/>
          </a:ln>
        </p:spPr>
      </p:sp>
      <p:sp>
        <p:nvSpPr>
          <p:cNvPr id="14" name="Shape 7"/>
          <p:cNvSpPr/>
          <p:nvPr/>
        </p:nvSpPr>
        <p:spPr>
          <a:xfrm>
            <a:off x="3603431" y="1724730"/>
            <a:ext cx="399806" cy="399806"/>
          </a:xfrm>
          <a:custGeom>
            <a:avLst/>
            <a:gdLst/>
            <a:ahLst/>
            <a:cxnLst/>
            <a:rect l="l" t="t" r="r" b="b"/>
            <a:pathLst>
              <a:path w="399806" h="399806">
                <a:moveTo>
                  <a:pt x="199903" y="0"/>
                </a:moveTo>
                <a:moveTo>
                  <a:pt x="199903" y="0"/>
                </a:moveTo>
                <a:cubicBezTo>
                  <a:pt x="310233" y="0"/>
                  <a:pt x="399806" y="89574"/>
                  <a:pt x="399806" y="199903"/>
                </a:cubicBezTo>
                <a:cubicBezTo>
                  <a:pt x="399806" y="310233"/>
                  <a:pt x="310233" y="399806"/>
                  <a:pt x="199903" y="399806"/>
                </a:cubicBezTo>
                <a:cubicBezTo>
                  <a:pt x="89574" y="399806"/>
                  <a:pt x="0" y="310233"/>
                  <a:pt x="0" y="199903"/>
                </a:cubicBezTo>
                <a:cubicBezTo>
                  <a:pt x="0" y="89574"/>
                  <a:pt x="89574" y="0"/>
                  <a:pt x="199903" y="0"/>
                </a:cubicBez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5" name="Shape 8"/>
          <p:cNvSpPr/>
          <p:nvPr/>
        </p:nvSpPr>
        <p:spPr>
          <a:xfrm>
            <a:off x="6618539" y="1724730"/>
            <a:ext cx="399806" cy="399806"/>
          </a:xfrm>
          <a:custGeom>
            <a:avLst/>
            <a:gdLst/>
            <a:ahLst/>
            <a:cxnLst/>
            <a:rect l="l" t="t" r="r" b="b"/>
            <a:pathLst>
              <a:path w="399806" h="399806">
                <a:moveTo>
                  <a:pt x="199903" y="0"/>
                </a:moveTo>
                <a:moveTo>
                  <a:pt x="199903" y="0"/>
                </a:moveTo>
                <a:cubicBezTo>
                  <a:pt x="310233" y="0"/>
                  <a:pt x="399806" y="89574"/>
                  <a:pt x="399806" y="199903"/>
                </a:cubicBezTo>
                <a:cubicBezTo>
                  <a:pt x="399806" y="310233"/>
                  <a:pt x="310233" y="399806"/>
                  <a:pt x="199903" y="399806"/>
                </a:cubicBezTo>
                <a:cubicBezTo>
                  <a:pt x="89574" y="399806"/>
                  <a:pt x="0" y="310233"/>
                  <a:pt x="0" y="199903"/>
                </a:cubicBezTo>
                <a:cubicBezTo>
                  <a:pt x="0" y="89574"/>
                  <a:pt x="89574" y="0"/>
                  <a:pt x="199903" y="0"/>
                </a:cubic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6" name="Text 9"/>
          <p:cNvSpPr/>
          <p:nvPr/>
        </p:nvSpPr>
        <p:spPr>
          <a:xfrm>
            <a:off x="6551090" y="1696033"/>
            <a:ext cx="53470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3535982" y="1696033"/>
            <a:ext cx="53470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306241" y="2899655"/>
            <a:ext cx="2551850" cy="4872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mã nguồn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306241" y="3667302"/>
            <a:ext cx="2551850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Git để theo dõi phiên bản và hợp tác phát triển code.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3296075" y="2899655"/>
            <a:ext cx="2551850" cy="4872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Theo dõi công việc</a:t>
            </a:r>
            <a:endParaRPr lang="en-US" sz="1440" dirty="0"/>
          </a:p>
        </p:txBody>
      </p:sp>
      <p:sp>
        <p:nvSpPr>
          <p:cNvPr id="21" name="Text 14"/>
          <p:cNvSpPr/>
          <p:nvPr/>
        </p:nvSpPr>
        <p:spPr>
          <a:xfrm>
            <a:off x="3296075" y="3667302"/>
            <a:ext cx="2551850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Trello giúp phân chia task, theo dõi tiến độ và quản lý backlog.</a:t>
            </a:r>
            <a:endParaRPr lang="en-US" sz="1440" dirty="0"/>
          </a:p>
        </p:txBody>
      </p:sp>
      <p:sp>
        <p:nvSpPr>
          <p:cNvPr id="22" name="Text 15"/>
          <p:cNvSpPr/>
          <p:nvPr/>
        </p:nvSpPr>
        <p:spPr>
          <a:xfrm>
            <a:off x="6285909" y="2899655"/>
            <a:ext cx="2551850" cy="48721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tiếp nhóm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6285909" y="3667302"/>
            <a:ext cx="2551850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Slack hỗ trợ trao đổi nhanh chóng và chia sẻ tài liệu dự án.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và giải pháp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33" y="975354"/>
            <a:ext cx="8310536" cy="7598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6119" y="1135629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33" y="1919994"/>
            <a:ext cx="7871265" cy="75982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16119" y="2080269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233" y="2864634"/>
            <a:ext cx="7408249" cy="75982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16119" y="3024908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233" y="3809274"/>
            <a:ext cx="6957106" cy="75982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416119" y="3969548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4" name="Text 6"/>
          <p:cNvSpPr/>
          <p:nvPr/>
        </p:nvSpPr>
        <p:spPr>
          <a:xfrm>
            <a:off x="473529" y="1135629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Nhận diện không chính xác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3274579" y="1034943"/>
            <a:ext cx="503237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Ánh sáng kém và góc chụp khó gây nhận diện sai, cần cải thiện thuật toán xử lý ảnh.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73529" y="2080269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Hiệu suất xử lý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274579" y="1979583"/>
            <a:ext cx="4581275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Tối ưu hóa mã nguồn và sử dụng GPU để tăng tốc độ xử lý video thời gian thực.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473529" y="3050410"/>
            <a:ext cx="2689360" cy="4137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Bảo mật dữ liệu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3274579" y="2924223"/>
            <a:ext cx="410703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Mã hóa dữ liệu người dùng và tuân thủ quy định bảo vệ thông tin cá nhân.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473529" y="3969548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Giải pháp kỹ thuật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3274579" y="3868863"/>
            <a:ext cx="385257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Áp dụng data augmentation và fine-tuning model để cải thiện độ chính xác trong điều kiện khó.</a:t>
            </a:r>
            <a:endParaRPr lang="en-US" sz="144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165" y="2817537"/>
            <a:ext cx="1645602" cy="18513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demo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72188520_8JFzlz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9426" y="1058115"/>
            <a:ext cx="1322772" cy="132277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5172191741_xkbe7k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86885" y="1058115"/>
            <a:ext cx="1322772" cy="132277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5172195256_zpaEaK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34343" y="1058115"/>
            <a:ext cx="1322772" cy="1322772"/>
          </a:xfrm>
          <a:prstGeom prst="rect">
            <a:avLst/>
          </a:prstGeom>
        </p:spPr>
      </p:pic>
      <p:pic>
        <p:nvPicPr>
          <p:cNvPr id="9" name="Image 5" descr="https://oceandoc-ai.obs.ap-southeast-3.myhuaweicloud.com:443/image_1765172198198_RPSOVt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81802" y="1058115"/>
            <a:ext cx="1322772" cy="132277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502274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1" name="Shape 3"/>
          <p:cNvSpPr/>
          <p:nvPr/>
        </p:nvSpPr>
        <p:spPr>
          <a:xfrm>
            <a:off x="986116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1A6550"/>
            </a:solidFill>
            <a:prstDash val="solid"/>
            <a:headEnd type="none"/>
            <a:tailEnd type="none"/>
          </a:ln>
        </p:spPr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260" y="2124096"/>
            <a:ext cx="196596" cy="196596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3749733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4" name="Shape 5"/>
          <p:cNvSpPr/>
          <p:nvPr/>
        </p:nvSpPr>
        <p:spPr>
          <a:xfrm>
            <a:off x="3233575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0CBE7C"/>
            </a:solidFill>
            <a:prstDash val="solid"/>
            <a:headEnd type="none"/>
            <a:tailEnd type="none"/>
          </a:ln>
        </p:spPr>
      </p:sp>
      <p:sp>
        <p:nvSpPr>
          <p:cNvPr id="15" name="Shape 6"/>
          <p:cNvSpPr/>
          <p:nvPr/>
        </p:nvSpPr>
        <p:spPr>
          <a:xfrm>
            <a:off x="5997192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6" name="Shape 7"/>
          <p:cNvSpPr/>
          <p:nvPr/>
        </p:nvSpPr>
        <p:spPr>
          <a:xfrm>
            <a:off x="5481034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1A6550"/>
            </a:solidFill>
            <a:prstDash val="solid"/>
            <a:headEnd type="none"/>
            <a:tailEnd type="none"/>
          </a:ln>
        </p:spPr>
      </p:sp>
      <p:sp>
        <p:nvSpPr>
          <p:cNvPr id="17" name="Shape 8"/>
          <p:cNvSpPr/>
          <p:nvPr/>
        </p:nvSpPr>
        <p:spPr>
          <a:xfrm>
            <a:off x="8244651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8" name="Shape 9"/>
          <p:cNvSpPr/>
          <p:nvPr/>
        </p:nvSpPr>
        <p:spPr>
          <a:xfrm>
            <a:off x="7728492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0CBE7C"/>
            </a:solidFill>
            <a:prstDash val="solid"/>
            <a:headEnd type="none"/>
            <a:tailEnd type="none"/>
          </a:ln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2861" y="2117238"/>
            <a:ext cx="210312" cy="210312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6944" y="2083863"/>
            <a:ext cx="277063" cy="277063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2350" y="2121810"/>
            <a:ext cx="201168" cy="20116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242713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Ảnh đầu vào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242713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Hình ảnh gốc trước khi xử lý qua hệ thống AI.</a:t>
            </a:r>
            <a:endParaRPr lang="en-US" sz="1440" dirty="0"/>
          </a:p>
        </p:txBody>
      </p:sp>
      <p:sp>
        <p:nvSpPr>
          <p:cNvPr id="24" name="Text 12"/>
          <p:cNvSpPr/>
          <p:nvPr/>
        </p:nvSpPr>
        <p:spPr>
          <a:xfrm>
            <a:off x="2490172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Nhận diện người</a:t>
            </a:r>
            <a:endParaRPr lang="en-US" sz="1440" dirty="0"/>
          </a:p>
        </p:txBody>
      </p:sp>
      <p:sp>
        <p:nvSpPr>
          <p:cNvPr id="25" name="Text 13"/>
          <p:cNvSpPr/>
          <p:nvPr/>
        </p:nvSpPr>
        <p:spPr>
          <a:xfrm>
            <a:off x="2490172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phát hiện con người trong ảnh với độ chính xác cao.</a:t>
            </a:r>
            <a:endParaRPr lang="en-US" sz="1440" dirty="0"/>
          </a:p>
        </p:txBody>
      </p:sp>
      <p:sp>
        <p:nvSpPr>
          <p:cNvPr id="26" name="Text 14"/>
          <p:cNvSpPr/>
          <p:nvPr/>
        </p:nvSpPr>
        <p:spPr>
          <a:xfrm>
            <a:off x="4737630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loại giới tính</a:t>
            </a:r>
            <a:endParaRPr lang="en-US" sz="1440" dirty="0"/>
          </a:p>
        </p:txBody>
      </p:sp>
      <p:sp>
        <p:nvSpPr>
          <p:cNvPr id="27" name="Text 15"/>
          <p:cNvSpPr/>
          <p:nvPr/>
        </p:nvSpPr>
        <p:spPr>
          <a:xfrm>
            <a:off x="4737630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 định nam/nữ dựa trên phân tích khuôn mặt.</a:t>
            </a:r>
            <a:endParaRPr lang="en-US" sz="1440" dirty="0"/>
          </a:p>
        </p:txBody>
      </p:sp>
      <p:sp>
        <p:nvSpPr>
          <p:cNvPr id="28" name="Text 16"/>
          <p:cNvSpPr/>
          <p:nvPr/>
        </p:nvSpPr>
        <p:spPr>
          <a:xfrm>
            <a:off x="6985089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Nhận diện màu áo</a:t>
            </a:r>
            <a:endParaRPr lang="en-US" sz="1440" dirty="0"/>
          </a:p>
        </p:txBody>
      </p:sp>
      <p:sp>
        <p:nvSpPr>
          <p:cNvPr id="29" name="Text 17"/>
          <p:cNvSpPr/>
          <p:nvPr/>
        </p:nvSpPr>
        <p:spPr>
          <a:xfrm>
            <a:off x="6985089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loại màu sắc trang phục bằng thuật toán K-Means.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Rủi ro và ngân sách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56217" y="1255967"/>
            <a:ext cx="2631566" cy="2631566"/>
          </a:xfrm>
          <a:custGeom>
            <a:avLst/>
            <a:gdLst/>
            <a:ahLst/>
            <a:cxnLst/>
            <a:rect l="l" t="t" r="r" b="b"/>
            <a:pathLst>
              <a:path w="2631566" h="2631566">
                <a:moveTo>
                  <a:pt x="1315783" y="0"/>
                </a:moveTo>
                <a:moveTo>
                  <a:pt x="1315783" y="0"/>
                </a:moveTo>
                <a:cubicBezTo>
                  <a:pt x="2041983" y="0"/>
                  <a:pt x="2631566" y="589583"/>
                  <a:pt x="2631566" y="1315783"/>
                </a:cubicBezTo>
                <a:cubicBezTo>
                  <a:pt x="2631566" y="2041983"/>
                  <a:pt x="2041983" y="2631566"/>
                  <a:pt x="1315783" y="2631566"/>
                </a:cubicBezTo>
                <a:cubicBezTo>
                  <a:pt x="589583" y="2631566"/>
                  <a:pt x="0" y="2041983"/>
                  <a:pt x="0" y="1315783"/>
                </a:cubicBezTo>
                <a:cubicBezTo>
                  <a:pt x="0" y="589583"/>
                  <a:pt x="589583" y="0"/>
                  <a:pt x="1315783" y="0"/>
                </a:cubicBezTo>
                <a:close/>
              </a:path>
            </a:pathLst>
          </a:custGeom>
          <a:solidFill>
            <a:srgbClr val="1A6550">
              <a:alpha val="20000"/>
            </a:srgbClr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0602" y="1398682"/>
            <a:ext cx="2382795" cy="23461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Rủi ro kỹ thuật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53537" y="1370708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Lỗi nhận diện, độ chính xác thấp, vấn đề hiệu suất khi xử lý dữ liệu lớn.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Rủi ro bảo mật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6002866" y="1370686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Lộ dữ liệu cá nhân, tấn công mạng, vi phạm quyền riêng tư người dùng.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 phí phần cứng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Máy chủ GPU, thiết bị lưu trữ, camera chuyên dụng cho thu thập dữ liệu.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 phí nhân lực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Lương kỹ sư AI, chuyên gia dữ liệu, chi phí đào tạo và phát triển.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 kinh nghiệm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9806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Khó khăn kỹ thuật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5172191408_dhsxZE.jpg"/>
          <p:cNvPicPr>
            <a:picLocks noChangeAspect="1"/>
          </p:cNvPicPr>
          <p:nvPr/>
        </p:nvPicPr>
        <p:blipFill>
          <a:blip r:embed="rId5"/>
          <a:srcRect t="9839" b="9839"/>
          <a:stretch/>
        </p:blipFill>
        <p:spPr>
          <a:xfrm>
            <a:off x="449806" y="2978669"/>
            <a:ext cx="1994265" cy="15954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9806" y="1474916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Xử lý ánh sáng kém và góc chụp khó gây nhận diện sai.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520945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Tối ưu hóa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5172195030_uwbzYL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2520945" y="1111567"/>
            <a:ext cx="1994265" cy="15954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20945" y="3368922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Cân bằng độ chính xác và tốc độ xử lý quan trọng.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610373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thời gian</a:t>
            </a:r>
            <a:endParaRPr lang="en-US" sz="1440" dirty="0"/>
          </a:p>
        </p:txBody>
      </p:sp>
      <p:pic>
        <p:nvPicPr>
          <p:cNvPr id="13" name="Image 4" descr="https://oceandoc-ai.obs.ap-southeast-3.myhuaweicloud.com:443/image_1765172199525_xwhA3C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4610373" y="2978669"/>
            <a:ext cx="1994265" cy="15954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10373" y="1474916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chia công việc hợp lý giúp hoàn thành đúng hạn.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6699801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 việc nhóm</a:t>
            </a:r>
            <a:endParaRPr lang="en-US" sz="1440" dirty="0"/>
          </a:p>
        </p:txBody>
      </p:sp>
      <p:pic>
        <p:nvPicPr>
          <p:cNvPr id="16" name="Image 5" descr="https://oceandoc-ai.obs.ap-southeast-3.myhuaweicloud.com:443/image_1765172203021_2tBCZz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6699801" y="1111567"/>
            <a:ext cx="1994265" cy="15954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99801" y="3368922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tiếp hiệu quả và phân công rõ ràng.</a:t>
            </a:r>
            <a:endParaRPr lang="en-US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4520" y="71906"/>
            <a:ext cx="8974960" cy="4999687"/>
          </a:xfrm>
          <a:custGeom>
            <a:avLst/>
            <a:gdLst/>
            <a:ahLst/>
            <a:cxnLst/>
            <a:rect l="l" t="t" r="r" b="b"/>
            <a:pathLst>
              <a:path w="8974960" h="4999687">
                <a:moveTo>
                  <a:pt x="0" y="624961"/>
                </a:moveTo>
                <a:moveTo>
                  <a:pt x="0" y="624961"/>
                </a:moveTo>
                <a:quadBezTo>
                  <a:pt x="0" y="0"/>
                  <a:pt x="624961" y="0"/>
                </a:quadBezTo>
                <a:lnTo>
                  <a:pt x="8349999" y="0"/>
                </a:lnTo>
                <a:quadBezTo>
                  <a:pt x="8974960" y="0"/>
                  <a:pt x="8974960" y="624961"/>
                </a:quadBezTo>
                <a:lnTo>
                  <a:pt x="8974960" y="4999687"/>
                </a:lnTo>
                <a:lnTo>
                  <a:pt x="0" y="4999687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80" y="72456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 hoạch tương lai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3" y="244913"/>
            <a:ext cx="616423" cy="23115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23" y="296727"/>
            <a:ext cx="616423" cy="231159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72193627_aEmP35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9426" y="1058115"/>
            <a:ext cx="1322772" cy="132277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5172196644_9eN8uX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86885" y="1058115"/>
            <a:ext cx="1322772" cy="132277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5172199595_6l67fs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34343" y="1058115"/>
            <a:ext cx="1322772" cy="1322772"/>
          </a:xfrm>
          <a:prstGeom prst="rect">
            <a:avLst/>
          </a:prstGeom>
        </p:spPr>
      </p:pic>
      <p:pic>
        <p:nvPicPr>
          <p:cNvPr id="9" name="Image 5" descr="https://oceandoc-ai.obs.ap-southeast-3.myhuaweicloud.com:443/image_1765172203485_UcUuXo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81802" y="1058115"/>
            <a:ext cx="1322772" cy="132277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502274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1" name="Shape 3"/>
          <p:cNvSpPr/>
          <p:nvPr/>
        </p:nvSpPr>
        <p:spPr>
          <a:xfrm>
            <a:off x="986116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1A6550"/>
            </a:solidFill>
            <a:prstDash val="solid"/>
            <a:headEnd type="none"/>
            <a:tailEnd type="none"/>
          </a:ln>
        </p:spPr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260" y="2124096"/>
            <a:ext cx="196596" cy="196596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3749733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4" name="Shape 5"/>
          <p:cNvSpPr/>
          <p:nvPr/>
        </p:nvSpPr>
        <p:spPr>
          <a:xfrm>
            <a:off x="3233575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0CBE7C"/>
            </a:solidFill>
            <a:prstDash val="solid"/>
            <a:headEnd type="none"/>
            <a:tailEnd type="none"/>
          </a:ln>
        </p:spPr>
      </p:sp>
      <p:sp>
        <p:nvSpPr>
          <p:cNvPr id="15" name="Shape 6"/>
          <p:cNvSpPr/>
          <p:nvPr/>
        </p:nvSpPr>
        <p:spPr>
          <a:xfrm>
            <a:off x="5997192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1A6550"/>
          </a:solidFill>
          <a:ln/>
        </p:spPr>
      </p:sp>
      <p:sp>
        <p:nvSpPr>
          <p:cNvPr id="16" name="Shape 7"/>
          <p:cNvSpPr/>
          <p:nvPr/>
        </p:nvSpPr>
        <p:spPr>
          <a:xfrm>
            <a:off x="5481034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1A6550"/>
            </a:solidFill>
            <a:prstDash val="solid"/>
            <a:headEnd type="none"/>
            <a:tailEnd type="none"/>
          </a:ln>
        </p:spPr>
      </p:sp>
      <p:sp>
        <p:nvSpPr>
          <p:cNvPr id="17" name="Shape 8"/>
          <p:cNvSpPr/>
          <p:nvPr/>
        </p:nvSpPr>
        <p:spPr>
          <a:xfrm>
            <a:off x="8244651" y="2052598"/>
            <a:ext cx="416567" cy="339593"/>
          </a:xfrm>
          <a:custGeom>
            <a:avLst/>
            <a:gdLst/>
            <a:ahLst/>
            <a:cxnLst/>
            <a:rect l="l" t="t" r="r" b="b"/>
            <a:pathLst>
              <a:path w="416567" h="339593">
                <a:moveTo>
                  <a:pt x="83313" y="0"/>
                </a:moveTo>
                <a:moveTo>
                  <a:pt x="83313" y="0"/>
                </a:moveTo>
                <a:lnTo>
                  <a:pt x="333254" y="0"/>
                </a:lnTo>
                <a:lnTo>
                  <a:pt x="416567" y="169796"/>
                </a:lnTo>
                <a:lnTo>
                  <a:pt x="333254" y="339593"/>
                </a:lnTo>
                <a:lnTo>
                  <a:pt x="83313" y="339593"/>
                </a:lnTo>
                <a:lnTo>
                  <a:pt x="0" y="169796"/>
                </a:lnTo>
                <a:close/>
              </a:path>
            </a:pathLst>
          </a:custGeom>
          <a:solidFill>
            <a:srgbClr val="0CBE7C"/>
          </a:solidFill>
          <a:ln/>
        </p:spPr>
      </p:sp>
      <p:sp>
        <p:nvSpPr>
          <p:cNvPr id="18" name="Shape 9"/>
          <p:cNvSpPr/>
          <p:nvPr/>
        </p:nvSpPr>
        <p:spPr>
          <a:xfrm>
            <a:off x="7728492" y="3206668"/>
            <a:ext cx="429392" cy="0"/>
          </a:xfrm>
          <a:custGeom>
            <a:avLst/>
            <a:gdLst/>
            <a:ahLst/>
            <a:cxnLst/>
            <a:rect l="l" t="t" r="r" b="b"/>
            <a:pathLst>
              <a:path w="429392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</a:path>
            </a:pathLst>
          </a:custGeom>
          <a:noFill/>
          <a:ln w="38100">
            <a:solidFill>
              <a:srgbClr val="0CBE7C"/>
            </a:solidFill>
            <a:prstDash val="solid"/>
            <a:headEnd type="none"/>
            <a:tailEnd type="none"/>
          </a:ln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2861" y="2117238"/>
            <a:ext cx="210312" cy="210312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6944" y="2083863"/>
            <a:ext cx="277063" cy="277063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2350" y="2121810"/>
            <a:ext cx="201168" cy="20116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242713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Cải tiến mô hình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242713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Nâng cấp thuật toán nhận diện để tăng độ chính xác và giảm thời gian xử lý.</a:t>
            </a:r>
            <a:endParaRPr lang="en-US" sz="1440" dirty="0"/>
          </a:p>
        </p:txBody>
      </p:sp>
      <p:sp>
        <p:nvSpPr>
          <p:cNvPr id="24" name="Text 12"/>
          <p:cNvSpPr/>
          <p:nvPr/>
        </p:nvSpPr>
        <p:spPr>
          <a:xfrm>
            <a:off x="2490172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Mở rộng tính năng</a:t>
            </a:r>
            <a:endParaRPr lang="en-US" sz="1440" dirty="0"/>
          </a:p>
        </p:txBody>
      </p:sp>
      <p:sp>
        <p:nvSpPr>
          <p:cNvPr id="25" name="Text 13"/>
          <p:cNvSpPr/>
          <p:nvPr/>
        </p:nvSpPr>
        <p:spPr>
          <a:xfrm>
            <a:off x="2490172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Bổ sung nhận diện cảm xúc, tuổi và các thuộc tính khác của đối tượng.</a:t>
            </a:r>
            <a:endParaRPr lang="en-US" sz="1440" dirty="0"/>
          </a:p>
        </p:txBody>
      </p:sp>
      <p:sp>
        <p:nvSpPr>
          <p:cNvPr id="26" name="Text 14"/>
          <p:cNvSpPr/>
          <p:nvPr/>
        </p:nvSpPr>
        <p:spPr>
          <a:xfrm>
            <a:off x="4737630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1A65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Tích hợp hệ thống</a:t>
            </a:r>
            <a:endParaRPr lang="en-US" sz="1440" dirty="0"/>
          </a:p>
        </p:txBody>
      </p:sp>
      <p:sp>
        <p:nvSpPr>
          <p:cNvPr id="27" name="Text 15"/>
          <p:cNvSpPr/>
          <p:nvPr/>
        </p:nvSpPr>
        <p:spPr>
          <a:xfrm>
            <a:off x="4737630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nối với các nền tảng khác như camera an ninh và hệ thống quản lý.</a:t>
            </a:r>
            <a:endParaRPr lang="en-US" sz="1440" dirty="0"/>
          </a:p>
        </p:txBody>
      </p:sp>
      <p:sp>
        <p:nvSpPr>
          <p:cNvPr id="28" name="Text 16"/>
          <p:cNvSpPr/>
          <p:nvPr/>
        </p:nvSpPr>
        <p:spPr>
          <a:xfrm>
            <a:off x="6985089" y="2663918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CBE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triển ứng dụng</a:t>
            </a:r>
            <a:endParaRPr lang="en-US" sz="1440" dirty="0"/>
          </a:p>
        </p:txBody>
      </p:sp>
      <p:sp>
        <p:nvSpPr>
          <p:cNvPr id="29" name="Text 17"/>
          <p:cNvSpPr/>
          <p:nvPr/>
        </p:nvSpPr>
        <p:spPr>
          <a:xfrm>
            <a:off x="6985089" y="327766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Xây dựng phiên bản di động và web để mở rộng khả năng tiếp cận.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5396" y="1392174"/>
            <a:ext cx="4313208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551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1309</Words>
  <Application>Microsoft Office PowerPoint</Application>
  <PresentationFormat>On-screen Show (16:9)</PresentationFormat>
  <Paragraphs>210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Microsoft Yahei</vt:lpstr>
      <vt:lpstr>Arial</vt:lpstr>
      <vt:lpstr>Calibri</vt:lpstr>
      <vt:lpstr>Noto Sans</vt:lpstr>
      <vt:lpstr>Noto Sans SC</vt:lpstr>
      <vt:lpstr>Tie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Thúy Kiều</cp:lastModifiedBy>
  <cp:revision>2</cp:revision>
  <dcterms:created xsi:type="dcterms:W3CDTF">2025-12-08T05:37:55Z</dcterms:created>
  <dcterms:modified xsi:type="dcterms:W3CDTF">2025-12-08T05:41:43Z</dcterms:modified>
</cp:coreProperties>
</file>